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198.xml" ContentType="application/vnd.openxmlformats-officedocument.presentationml.slide+xml"/>
  <Override PartName="/ppt/slides/slide19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00.xml" ContentType="application/vnd.openxmlformats-officedocument.presentationml.slide+xml"/>
  <Override PartName="/ppt/slides/slide201.xml" ContentType="application/vnd.openxmlformats-officedocument.presentationml.slide+xml"/>
  <Override PartName="/ppt/slides/slide202.xml" ContentType="application/vnd.openxmlformats-officedocument.presentationml.slide+xml"/>
  <Override PartName="/ppt/slides/slide203.xml" ContentType="application/vnd.openxmlformats-officedocument.presentationml.slide+xml"/>
  <Override PartName="/ppt/slides/slide204.xml" ContentType="application/vnd.openxmlformats-officedocument.presentationml.slide+xml"/>
  <Override PartName="/ppt/slides/slide205.xml" ContentType="application/vnd.openxmlformats-officedocument.presentationml.slide+xml"/>
  <Override PartName="/ppt/slides/slide206.xml" ContentType="application/vnd.openxmlformats-officedocument.presentationml.slide+xml"/>
  <Override PartName="/ppt/slides/slide207.xml" ContentType="application/vnd.openxmlformats-officedocument.presentationml.slide+xml"/>
  <Override PartName="/ppt/slides/slide208.xml" ContentType="application/vnd.openxmlformats-officedocument.presentationml.slide+xml"/>
  <Override PartName="/ppt/slides/slide209.xml" ContentType="application/vnd.openxmlformats-officedocument.presentationml.slide+xml"/>
  <Override PartName="/ppt/slides/slide21.xml" ContentType="application/vnd.openxmlformats-officedocument.presentationml.slide+xml"/>
  <Override PartName="/ppt/slides/slide210.xml" ContentType="application/vnd.openxmlformats-officedocument.presentationml.slide+xml"/>
  <Override PartName="/ppt/slides/slide211.xml" ContentType="application/vnd.openxmlformats-officedocument.presentationml.slide+xml"/>
  <Override PartName="/ppt/slides/slide212.xml" ContentType="application/vnd.openxmlformats-officedocument.presentationml.slide+xml"/>
  <Override PartName="/ppt/slides/slide213.xml" ContentType="application/vnd.openxmlformats-officedocument.presentationml.slide+xml"/>
  <Override PartName="/ppt/slides/slide214.xml" ContentType="application/vnd.openxmlformats-officedocument.presentationml.slide+xml"/>
  <Override PartName="/ppt/slides/slide215.xml" ContentType="application/vnd.openxmlformats-officedocument.presentationml.slide+xml"/>
  <Override PartName="/ppt/slides/slide216.xml" ContentType="application/vnd.openxmlformats-officedocument.presentationml.slide+xml"/>
  <Override PartName="/ppt/slides/slide217.xml" ContentType="application/vnd.openxmlformats-officedocument.presentationml.slide+xml"/>
  <Override PartName="/ppt/slides/slide218.xml" ContentType="application/vnd.openxmlformats-officedocument.presentationml.slide+xml"/>
  <Override PartName="/ppt/slides/slide219.xml" ContentType="application/vnd.openxmlformats-officedocument.presentationml.slide+xml"/>
  <Override PartName="/ppt/slides/slide22.xml" ContentType="application/vnd.openxmlformats-officedocument.presentationml.slide+xml"/>
  <Override PartName="/ppt/slides/slide220.xml" ContentType="application/vnd.openxmlformats-officedocument.presentationml.slide+xml"/>
  <Override PartName="/ppt/slides/slide221.xml" ContentType="application/vnd.openxmlformats-officedocument.presentationml.slide+xml"/>
  <Override PartName="/ppt/slides/slide222.xml" ContentType="application/vnd.openxmlformats-officedocument.presentationml.slide+xml"/>
  <Override PartName="/ppt/slides/slide223.xml" ContentType="application/vnd.openxmlformats-officedocument.presentationml.slide+xml"/>
  <Override PartName="/ppt/slides/slide224.xml" ContentType="application/vnd.openxmlformats-officedocument.presentationml.slide+xml"/>
  <Override PartName="/ppt/slides/slide225.xml" ContentType="application/vnd.openxmlformats-officedocument.presentationml.slide+xml"/>
  <Override PartName="/ppt/slides/slide226.xml" ContentType="application/vnd.openxmlformats-officedocument.presentationml.slide+xml"/>
  <Override PartName="/ppt/slides/slide227.xml" ContentType="application/vnd.openxmlformats-officedocument.presentationml.slide+xml"/>
  <Override PartName="/ppt/slides/slide228.xml" ContentType="application/vnd.openxmlformats-officedocument.presentationml.slide+xml"/>
  <Override PartName="/ppt/slides/slide229.xml" ContentType="application/vnd.openxmlformats-officedocument.presentationml.slide+xml"/>
  <Override PartName="/ppt/slides/slide23.xml" ContentType="application/vnd.openxmlformats-officedocument.presentationml.slide+xml"/>
  <Override PartName="/ppt/slides/slide230.xml" ContentType="application/vnd.openxmlformats-officedocument.presentationml.slide+xml"/>
  <Override PartName="/ppt/slides/slide231.xml" ContentType="application/vnd.openxmlformats-officedocument.presentationml.slide+xml"/>
  <Override PartName="/ppt/slides/slide232.xml" ContentType="application/vnd.openxmlformats-officedocument.presentationml.slide+xml"/>
  <Override PartName="/ppt/slides/slide233.xml" ContentType="application/vnd.openxmlformats-officedocument.presentationml.slide+xml"/>
  <Override PartName="/ppt/slides/slide234.xml" ContentType="application/vnd.openxmlformats-officedocument.presentationml.slide+xml"/>
  <Override PartName="/ppt/slides/slide235.xml" ContentType="application/vnd.openxmlformats-officedocument.presentationml.slide+xml"/>
  <Override PartName="/ppt/slides/slide236.xml" ContentType="application/vnd.openxmlformats-officedocument.presentationml.slide+xml"/>
  <Override PartName="/ppt/slides/slide237.xml" ContentType="application/vnd.openxmlformats-officedocument.presentationml.slide+xml"/>
  <Override PartName="/ppt/slides/slide238.xml" ContentType="application/vnd.openxmlformats-officedocument.presentationml.slide+xml"/>
  <Override PartName="/ppt/slides/slide239.xml" ContentType="application/vnd.openxmlformats-officedocument.presentationml.slide+xml"/>
  <Override PartName="/ppt/slides/slide24.xml" ContentType="application/vnd.openxmlformats-officedocument.presentationml.slide+xml"/>
  <Override PartName="/ppt/slides/slide240.xml" ContentType="application/vnd.openxmlformats-officedocument.presentationml.slide+xml"/>
  <Override PartName="/ppt/slides/slide241.xml" ContentType="application/vnd.openxmlformats-officedocument.presentationml.slide+xml"/>
  <Override PartName="/ppt/slides/slide242.xml" ContentType="application/vnd.openxmlformats-officedocument.presentationml.slide+xml"/>
  <Override PartName="/ppt/slides/slide243.xml" ContentType="application/vnd.openxmlformats-officedocument.presentationml.slide+xml"/>
  <Override PartName="/ppt/slides/slide244.xml" ContentType="application/vnd.openxmlformats-officedocument.presentationml.slide+xml"/>
  <Override PartName="/ppt/slides/slide245.xml" ContentType="application/vnd.openxmlformats-officedocument.presentationml.slide+xml"/>
  <Override PartName="/ppt/slides/slide246.xml" ContentType="application/vnd.openxmlformats-officedocument.presentationml.slide+xml"/>
  <Override PartName="/ppt/slides/slide247.xml" ContentType="application/vnd.openxmlformats-officedocument.presentationml.slide+xml"/>
  <Override PartName="/ppt/slides/slide248.xml" ContentType="application/vnd.openxmlformats-officedocument.presentationml.slide+xml"/>
  <Override PartName="/ppt/slides/slide249.xml" ContentType="application/vnd.openxmlformats-officedocument.presentationml.slide+xml"/>
  <Override PartName="/ppt/slides/slide25.xml" ContentType="application/vnd.openxmlformats-officedocument.presentationml.slide+xml"/>
  <Override PartName="/ppt/slides/slide250.xml" ContentType="application/vnd.openxmlformats-officedocument.presentationml.slide+xml"/>
  <Override PartName="/ppt/slides/slide251.xml" ContentType="application/vnd.openxmlformats-officedocument.presentationml.slide+xml"/>
  <Override PartName="/ppt/slides/slide252.xml" ContentType="application/vnd.openxmlformats-officedocument.presentationml.slide+xml"/>
  <Override PartName="/ppt/slides/slide253.xml" ContentType="application/vnd.openxmlformats-officedocument.presentationml.slide+xml"/>
  <Override PartName="/ppt/slides/slide254.xml" ContentType="application/vnd.openxmlformats-officedocument.presentationml.slide+xml"/>
  <Override PartName="/ppt/slides/slide255.xml" ContentType="application/vnd.openxmlformats-officedocument.presentationml.slide+xml"/>
  <Override PartName="/ppt/slides/slide256.xml" ContentType="application/vnd.openxmlformats-officedocument.presentationml.slide+xml"/>
  <Override PartName="/ppt/slides/slide257.xml" ContentType="application/vnd.openxmlformats-officedocument.presentationml.slide+xml"/>
  <Override PartName="/ppt/slides/slide258.xml" ContentType="application/vnd.openxmlformats-officedocument.presentationml.slide+xml"/>
  <Override PartName="/ppt/slides/slide259.xml" ContentType="application/vnd.openxmlformats-officedocument.presentationml.slide+xml"/>
  <Override PartName="/ppt/slides/slide26.xml" ContentType="application/vnd.openxmlformats-officedocument.presentationml.slide+xml"/>
  <Override PartName="/ppt/slides/slide260.xml" ContentType="application/vnd.openxmlformats-officedocument.presentationml.slide+xml"/>
  <Override PartName="/ppt/slides/slide261.xml" ContentType="application/vnd.openxmlformats-officedocument.presentationml.slide+xml"/>
  <Override PartName="/ppt/slides/slide262.xml" ContentType="application/vnd.openxmlformats-officedocument.presentationml.slide+xml"/>
  <Override PartName="/ppt/slides/slide263.xml" ContentType="application/vnd.openxmlformats-officedocument.presentationml.slide+xml"/>
  <Override PartName="/ppt/slides/slide264.xml" ContentType="application/vnd.openxmlformats-officedocument.presentationml.slide+xml"/>
  <Override PartName="/ppt/slides/slide265.xml" ContentType="application/vnd.openxmlformats-officedocument.presentationml.slide+xml"/>
  <Override PartName="/ppt/slides/slide266.xml" ContentType="application/vnd.openxmlformats-officedocument.presentationml.slide+xml"/>
  <Override PartName="/ppt/slides/slide267.xml" ContentType="application/vnd.openxmlformats-officedocument.presentationml.slide+xml"/>
  <Override PartName="/ppt/slides/slide268.xml" ContentType="application/vnd.openxmlformats-officedocument.presentationml.slide+xml"/>
  <Override PartName="/ppt/slides/slide269.xml" ContentType="application/vnd.openxmlformats-officedocument.presentationml.slide+xml"/>
  <Override PartName="/ppt/slides/slide27.xml" ContentType="application/vnd.openxmlformats-officedocument.presentationml.slide+xml"/>
  <Override PartName="/ppt/slides/slide270.xml" ContentType="application/vnd.openxmlformats-officedocument.presentationml.slide+xml"/>
  <Override PartName="/ppt/slides/slide271.xml" ContentType="application/vnd.openxmlformats-officedocument.presentationml.slide+xml"/>
  <Override PartName="/ppt/slides/slide272.xml" ContentType="application/vnd.openxmlformats-officedocument.presentationml.slide+xml"/>
  <Override PartName="/ppt/slides/slide273.xml" ContentType="application/vnd.openxmlformats-officedocument.presentationml.slide+xml"/>
  <Override PartName="/ppt/slides/slide274.xml" ContentType="application/vnd.openxmlformats-officedocument.presentationml.slide+xml"/>
  <Override PartName="/ppt/slides/slide275.xml" ContentType="application/vnd.openxmlformats-officedocument.presentationml.slide+xml"/>
  <Override PartName="/ppt/slides/slide276.xml" ContentType="application/vnd.openxmlformats-officedocument.presentationml.slide+xml"/>
  <Override PartName="/ppt/slides/slide277.xml" ContentType="application/vnd.openxmlformats-officedocument.presentationml.slide+xml"/>
  <Override PartName="/ppt/slides/slide278.xml" ContentType="application/vnd.openxmlformats-officedocument.presentationml.slide+xml"/>
  <Override PartName="/ppt/slides/slide279.xml" ContentType="application/vnd.openxmlformats-officedocument.presentationml.slide+xml"/>
  <Override PartName="/ppt/slides/slide28.xml" ContentType="application/vnd.openxmlformats-officedocument.presentationml.slide+xml"/>
  <Override PartName="/ppt/slides/slide280.xml" ContentType="application/vnd.openxmlformats-officedocument.presentationml.slide+xml"/>
  <Override PartName="/ppt/slides/slide281.xml" ContentType="application/vnd.openxmlformats-officedocument.presentationml.slide+xml"/>
  <Override PartName="/ppt/slides/slide282.xml" ContentType="application/vnd.openxmlformats-officedocument.presentationml.slide+xml"/>
  <Override PartName="/ppt/slides/slide283.xml" ContentType="application/vnd.openxmlformats-officedocument.presentationml.slide+xml"/>
  <Override PartName="/ppt/slides/slide284.xml" ContentType="application/vnd.openxmlformats-officedocument.presentationml.slide+xml"/>
  <Override PartName="/ppt/slides/slide285.xml" ContentType="application/vnd.openxmlformats-officedocument.presentationml.slide+xml"/>
  <Override PartName="/ppt/slides/slide286.xml" ContentType="application/vnd.openxmlformats-officedocument.presentationml.slide+xml"/>
  <Override PartName="/ppt/slides/slide287.xml" ContentType="application/vnd.openxmlformats-officedocument.presentationml.slide+xml"/>
  <Override PartName="/ppt/slides/slide288.xml" ContentType="application/vnd.openxmlformats-officedocument.presentationml.slide+xml"/>
  <Override PartName="/ppt/slides/slide289.xml" ContentType="application/vnd.openxmlformats-officedocument.presentationml.slide+xml"/>
  <Override PartName="/ppt/slides/slide29.xml" ContentType="application/vnd.openxmlformats-officedocument.presentationml.slide+xml"/>
  <Override PartName="/ppt/slides/slide290.xml" ContentType="application/vnd.openxmlformats-officedocument.presentationml.slide+xml"/>
  <Override PartName="/ppt/slides/slide291.xml" ContentType="application/vnd.openxmlformats-officedocument.presentationml.slide+xml"/>
  <Override PartName="/ppt/slides/slide292.xml" ContentType="application/vnd.openxmlformats-officedocument.presentationml.slide+xml"/>
  <Override PartName="/ppt/slides/slide293.xml" ContentType="application/vnd.openxmlformats-officedocument.presentationml.slide+xml"/>
  <Override PartName="/ppt/slides/slide294.xml" ContentType="application/vnd.openxmlformats-officedocument.presentationml.slide+xml"/>
  <Override PartName="/ppt/slides/slide295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  <p:sldId id="375" r:id="rId126"/>
    <p:sldId id="376" r:id="rId127"/>
    <p:sldId id="377" r:id="rId128"/>
    <p:sldId id="378" r:id="rId129"/>
    <p:sldId id="379" r:id="rId130"/>
    <p:sldId id="380" r:id="rId131"/>
    <p:sldId id="381" r:id="rId132"/>
    <p:sldId id="382" r:id="rId133"/>
    <p:sldId id="383" r:id="rId134"/>
    <p:sldId id="384" r:id="rId135"/>
    <p:sldId id="385" r:id="rId136"/>
    <p:sldId id="386" r:id="rId137"/>
    <p:sldId id="387" r:id="rId138"/>
    <p:sldId id="388" r:id="rId139"/>
    <p:sldId id="389" r:id="rId140"/>
    <p:sldId id="390" r:id="rId141"/>
    <p:sldId id="391" r:id="rId142"/>
    <p:sldId id="392" r:id="rId143"/>
    <p:sldId id="393" r:id="rId144"/>
    <p:sldId id="394" r:id="rId145"/>
    <p:sldId id="395" r:id="rId146"/>
    <p:sldId id="396" r:id="rId147"/>
    <p:sldId id="397" r:id="rId148"/>
    <p:sldId id="398" r:id="rId149"/>
    <p:sldId id="399" r:id="rId150"/>
    <p:sldId id="400" r:id="rId151"/>
    <p:sldId id="401" r:id="rId152"/>
    <p:sldId id="402" r:id="rId153"/>
    <p:sldId id="403" r:id="rId154"/>
    <p:sldId id="404" r:id="rId155"/>
    <p:sldId id="405" r:id="rId156"/>
    <p:sldId id="406" r:id="rId157"/>
    <p:sldId id="407" r:id="rId158"/>
    <p:sldId id="408" r:id="rId159"/>
    <p:sldId id="409" r:id="rId160"/>
    <p:sldId id="410" r:id="rId161"/>
    <p:sldId id="411" r:id="rId162"/>
    <p:sldId id="412" r:id="rId163"/>
    <p:sldId id="413" r:id="rId164"/>
    <p:sldId id="414" r:id="rId165"/>
    <p:sldId id="415" r:id="rId166"/>
    <p:sldId id="416" r:id="rId167"/>
    <p:sldId id="417" r:id="rId168"/>
    <p:sldId id="418" r:id="rId169"/>
    <p:sldId id="419" r:id="rId170"/>
    <p:sldId id="420" r:id="rId171"/>
    <p:sldId id="421" r:id="rId172"/>
    <p:sldId id="422" r:id="rId173"/>
    <p:sldId id="423" r:id="rId174"/>
    <p:sldId id="424" r:id="rId175"/>
    <p:sldId id="425" r:id="rId176"/>
    <p:sldId id="426" r:id="rId177"/>
    <p:sldId id="427" r:id="rId178"/>
    <p:sldId id="428" r:id="rId179"/>
    <p:sldId id="429" r:id="rId180"/>
    <p:sldId id="430" r:id="rId181"/>
    <p:sldId id="431" r:id="rId182"/>
    <p:sldId id="432" r:id="rId183"/>
    <p:sldId id="433" r:id="rId184"/>
    <p:sldId id="434" r:id="rId185"/>
    <p:sldId id="435" r:id="rId186"/>
    <p:sldId id="436" r:id="rId187"/>
    <p:sldId id="437" r:id="rId188"/>
    <p:sldId id="438" r:id="rId189"/>
    <p:sldId id="439" r:id="rId190"/>
    <p:sldId id="440" r:id="rId191"/>
    <p:sldId id="441" r:id="rId192"/>
    <p:sldId id="442" r:id="rId193"/>
    <p:sldId id="443" r:id="rId194"/>
    <p:sldId id="444" r:id="rId195"/>
    <p:sldId id="445" r:id="rId196"/>
    <p:sldId id="446" r:id="rId197"/>
    <p:sldId id="447" r:id="rId198"/>
    <p:sldId id="448" r:id="rId199"/>
    <p:sldId id="449" r:id="rId200"/>
    <p:sldId id="450" r:id="rId201"/>
    <p:sldId id="451" r:id="rId202"/>
    <p:sldId id="452" r:id="rId203"/>
    <p:sldId id="453" r:id="rId204"/>
    <p:sldId id="454" r:id="rId205"/>
    <p:sldId id="455" r:id="rId206"/>
    <p:sldId id="456" r:id="rId207"/>
    <p:sldId id="457" r:id="rId208"/>
    <p:sldId id="458" r:id="rId209"/>
    <p:sldId id="459" r:id="rId210"/>
    <p:sldId id="460" r:id="rId211"/>
    <p:sldId id="461" r:id="rId212"/>
    <p:sldId id="462" r:id="rId213"/>
    <p:sldId id="463" r:id="rId214"/>
    <p:sldId id="464" r:id="rId215"/>
    <p:sldId id="465" r:id="rId216"/>
    <p:sldId id="466" r:id="rId217"/>
    <p:sldId id="467" r:id="rId218"/>
    <p:sldId id="468" r:id="rId219"/>
    <p:sldId id="469" r:id="rId220"/>
    <p:sldId id="470" r:id="rId221"/>
    <p:sldId id="471" r:id="rId222"/>
    <p:sldId id="472" r:id="rId223"/>
    <p:sldId id="473" r:id="rId224"/>
    <p:sldId id="474" r:id="rId225"/>
    <p:sldId id="475" r:id="rId226"/>
    <p:sldId id="476" r:id="rId227"/>
    <p:sldId id="477" r:id="rId228"/>
    <p:sldId id="478" r:id="rId229"/>
    <p:sldId id="479" r:id="rId230"/>
    <p:sldId id="480" r:id="rId231"/>
    <p:sldId id="481" r:id="rId232"/>
    <p:sldId id="482" r:id="rId233"/>
    <p:sldId id="483" r:id="rId234"/>
    <p:sldId id="484" r:id="rId235"/>
    <p:sldId id="485" r:id="rId236"/>
    <p:sldId id="486" r:id="rId237"/>
    <p:sldId id="487" r:id="rId238"/>
    <p:sldId id="488" r:id="rId239"/>
    <p:sldId id="489" r:id="rId240"/>
    <p:sldId id="490" r:id="rId241"/>
    <p:sldId id="491" r:id="rId242"/>
    <p:sldId id="492" r:id="rId243"/>
    <p:sldId id="493" r:id="rId244"/>
    <p:sldId id="494" r:id="rId245"/>
    <p:sldId id="495" r:id="rId246"/>
    <p:sldId id="496" r:id="rId247"/>
    <p:sldId id="497" r:id="rId248"/>
    <p:sldId id="498" r:id="rId249"/>
    <p:sldId id="499" r:id="rId250"/>
    <p:sldId id="500" r:id="rId251"/>
    <p:sldId id="501" r:id="rId252"/>
    <p:sldId id="502" r:id="rId253"/>
    <p:sldId id="503" r:id="rId254"/>
    <p:sldId id="504" r:id="rId255"/>
    <p:sldId id="505" r:id="rId256"/>
    <p:sldId id="506" r:id="rId257"/>
    <p:sldId id="507" r:id="rId258"/>
    <p:sldId id="508" r:id="rId259"/>
    <p:sldId id="509" r:id="rId260"/>
    <p:sldId id="510" r:id="rId261"/>
    <p:sldId id="511" r:id="rId262"/>
    <p:sldId id="512" r:id="rId263"/>
    <p:sldId id="513" r:id="rId264"/>
    <p:sldId id="514" r:id="rId265"/>
    <p:sldId id="515" r:id="rId266"/>
    <p:sldId id="516" r:id="rId267"/>
    <p:sldId id="517" r:id="rId268"/>
    <p:sldId id="518" r:id="rId269"/>
    <p:sldId id="519" r:id="rId270"/>
    <p:sldId id="520" r:id="rId271"/>
    <p:sldId id="521" r:id="rId272"/>
    <p:sldId id="522" r:id="rId273"/>
    <p:sldId id="523" r:id="rId274"/>
    <p:sldId id="524" r:id="rId275"/>
    <p:sldId id="525" r:id="rId276"/>
    <p:sldId id="526" r:id="rId277"/>
    <p:sldId id="527" r:id="rId278"/>
    <p:sldId id="528" r:id="rId279"/>
    <p:sldId id="529" r:id="rId280"/>
    <p:sldId id="530" r:id="rId281"/>
    <p:sldId id="531" r:id="rId282"/>
    <p:sldId id="532" r:id="rId283"/>
    <p:sldId id="533" r:id="rId284"/>
    <p:sldId id="534" r:id="rId285"/>
    <p:sldId id="535" r:id="rId286"/>
    <p:sldId id="536" r:id="rId287"/>
    <p:sldId id="537" r:id="rId288"/>
    <p:sldId id="538" r:id="rId289"/>
    <p:sldId id="539" r:id="rId290"/>
    <p:sldId id="540" r:id="rId291"/>
    <p:sldId id="541" r:id="rId292"/>
    <p:sldId id="542" r:id="rId293"/>
    <p:sldId id="543" r:id="rId294"/>
    <p:sldId id="544" r:id="rId295"/>
    <p:sldId id="545" r:id="rId296"/>
    <p:sldId id="546" r:id="rId297"/>
    <p:sldId id="547" r:id="rId298"/>
    <p:sldId id="548" r:id="rId299"/>
    <p:sldId id="549" r:id="rId300"/>
    <p:sldId id="550" r:id="rId30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Relationship Id="rId114" Type="http://schemas.openxmlformats.org/officeDocument/2006/relationships/slide" Target="slides/slide108.xml"/><Relationship Id="rId115" Type="http://schemas.openxmlformats.org/officeDocument/2006/relationships/slide" Target="slides/slide109.xml"/><Relationship Id="rId116" Type="http://schemas.openxmlformats.org/officeDocument/2006/relationships/slide" Target="slides/slide110.xml"/><Relationship Id="rId117" Type="http://schemas.openxmlformats.org/officeDocument/2006/relationships/slide" Target="slides/slide111.xml"/><Relationship Id="rId118" Type="http://schemas.openxmlformats.org/officeDocument/2006/relationships/slide" Target="slides/slide112.xml"/><Relationship Id="rId119" Type="http://schemas.openxmlformats.org/officeDocument/2006/relationships/slide" Target="slides/slide113.xml"/><Relationship Id="rId120" Type="http://schemas.openxmlformats.org/officeDocument/2006/relationships/slide" Target="slides/slide114.xml"/><Relationship Id="rId121" Type="http://schemas.openxmlformats.org/officeDocument/2006/relationships/slide" Target="slides/slide115.xml"/><Relationship Id="rId122" Type="http://schemas.openxmlformats.org/officeDocument/2006/relationships/slide" Target="slides/slide116.xml"/><Relationship Id="rId123" Type="http://schemas.openxmlformats.org/officeDocument/2006/relationships/slide" Target="slides/slide117.xml"/><Relationship Id="rId124" Type="http://schemas.openxmlformats.org/officeDocument/2006/relationships/slide" Target="slides/slide118.xml"/><Relationship Id="rId125" Type="http://schemas.openxmlformats.org/officeDocument/2006/relationships/slide" Target="slides/slide119.xml"/><Relationship Id="rId126" Type="http://schemas.openxmlformats.org/officeDocument/2006/relationships/slide" Target="slides/slide120.xml"/><Relationship Id="rId127" Type="http://schemas.openxmlformats.org/officeDocument/2006/relationships/slide" Target="slides/slide121.xml"/><Relationship Id="rId128" Type="http://schemas.openxmlformats.org/officeDocument/2006/relationships/slide" Target="slides/slide122.xml"/><Relationship Id="rId129" Type="http://schemas.openxmlformats.org/officeDocument/2006/relationships/slide" Target="slides/slide123.xml"/><Relationship Id="rId130" Type="http://schemas.openxmlformats.org/officeDocument/2006/relationships/slide" Target="slides/slide124.xml"/><Relationship Id="rId131" Type="http://schemas.openxmlformats.org/officeDocument/2006/relationships/slide" Target="slides/slide125.xml"/><Relationship Id="rId132" Type="http://schemas.openxmlformats.org/officeDocument/2006/relationships/slide" Target="slides/slide126.xml"/><Relationship Id="rId133" Type="http://schemas.openxmlformats.org/officeDocument/2006/relationships/slide" Target="slides/slide127.xml"/><Relationship Id="rId134" Type="http://schemas.openxmlformats.org/officeDocument/2006/relationships/slide" Target="slides/slide128.xml"/><Relationship Id="rId135" Type="http://schemas.openxmlformats.org/officeDocument/2006/relationships/slide" Target="slides/slide129.xml"/><Relationship Id="rId136" Type="http://schemas.openxmlformats.org/officeDocument/2006/relationships/slide" Target="slides/slide130.xml"/><Relationship Id="rId137" Type="http://schemas.openxmlformats.org/officeDocument/2006/relationships/slide" Target="slides/slide131.xml"/><Relationship Id="rId138" Type="http://schemas.openxmlformats.org/officeDocument/2006/relationships/slide" Target="slides/slide132.xml"/><Relationship Id="rId139" Type="http://schemas.openxmlformats.org/officeDocument/2006/relationships/slide" Target="slides/slide133.xml"/><Relationship Id="rId140" Type="http://schemas.openxmlformats.org/officeDocument/2006/relationships/slide" Target="slides/slide134.xml"/><Relationship Id="rId141" Type="http://schemas.openxmlformats.org/officeDocument/2006/relationships/slide" Target="slides/slide135.xml"/><Relationship Id="rId142" Type="http://schemas.openxmlformats.org/officeDocument/2006/relationships/slide" Target="slides/slide136.xml"/><Relationship Id="rId143" Type="http://schemas.openxmlformats.org/officeDocument/2006/relationships/slide" Target="slides/slide137.xml"/><Relationship Id="rId144" Type="http://schemas.openxmlformats.org/officeDocument/2006/relationships/slide" Target="slides/slide138.xml"/><Relationship Id="rId145" Type="http://schemas.openxmlformats.org/officeDocument/2006/relationships/slide" Target="slides/slide139.xml"/><Relationship Id="rId146" Type="http://schemas.openxmlformats.org/officeDocument/2006/relationships/slide" Target="slides/slide140.xml"/><Relationship Id="rId147" Type="http://schemas.openxmlformats.org/officeDocument/2006/relationships/slide" Target="slides/slide141.xml"/><Relationship Id="rId148" Type="http://schemas.openxmlformats.org/officeDocument/2006/relationships/slide" Target="slides/slide142.xml"/><Relationship Id="rId149" Type="http://schemas.openxmlformats.org/officeDocument/2006/relationships/slide" Target="slides/slide143.xml"/><Relationship Id="rId150" Type="http://schemas.openxmlformats.org/officeDocument/2006/relationships/slide" Target="slides/slide144.xml"/><Relationship Id="rId151" Type="http://schemas.openxmlformats.org/officeDocument/2006/relationships/slide" Target="slides/slide145.xml"/><Relationship Id="rId152" Type="http://schemas.openxmlformats.org/officeDocument/2006/relationships/slide" Target="slides/slide146.xml"/><Relationship Id="rId153" Type="http://schemas.openxmlformats.org/officeDocument/2006/relationships/slide" Target="slides/slide147.xml"/><Relationship Id="rId154" Type="http://schemas.openxmlformats.org/officeDocument/2006/relationships/slide" Target="slides/slide148.xml"/><Relationship Id="rId155" Type="http://schemas.openxmlformats.org/officeDocument/2006/relationships/slide" Target="slides/slide149.xml"/><Relationship Id="rId156" Type="http://schemas.openxmlformats.org/officeDocument/2006/relationships/slide" Target="slides/slide150.xml"/><Relationship Id="rId157" Type="http://schemas.openxmlformats.org/officeDocument/2006/relationships/slide" Target="slides/slide151.xml"/><Relationship Id="rId158" Type="http://schemas.openxmlformats.org/officeDocument/2006/relationships/slide" Target="slides/slide152.xml"/><Relationship Id="rId159" Type="http://schemas.openxmlformats.org/officeDocument/2006/relationships/slide" Target="slides/slide153.xml"/><Relationship Id="rId160" Type="http://schemas.openxmlformats.org/officeDocument/2006/relationships/slide" Target="slides/slide154.xml"/><Relationship Id="rId161" Type="http://schemas.openxmlformats.org/officeDocument/2006/relationships/slide" Target="slides/slide155.xml"/><Relationship Id="rId162" Type="http://schemas.openxmlformats.org/officeDocument/2006/relationships/slide" Target="slides/slide156.xml"/><Relationship Id="rId163" Type="http://schemas.openxmlformats.org/officeDocument/2006/relationships/slide" Target="slides/slide157.xml"/><Relationship Id="rId164" Type="http://schemas.openxmlformats.org/officeDocument/2006/relationships/slide" Target="slides/slide158.xml"/><Relationship Id="rId165" Type="http://schemas.openxmlformats.org/officeDocument/2006/relationships/slide" Target="slides/slide159.xml"/><Relationship Id="rId166" Type="http://schemas.openxmlformats.org/officeDocument/2006/relationships/slide" Target="slides/slide160.xml"/><Relationship Id="rId167" Type="http://schemas.openxmlformats.org/officeDocument/2006/relationships/slide" Target="slides/slide161.xml"/><Relationship Id="rId168" Type="http://schemas.openxmlformats.org/officeDocument/2006/relationships/slide" Target="slides/slide162.xml"/><Relationship Id="rId169" Type="http://schemas.openxmlformats.org/officeDocument/2006/relationships/slide" Target="slides/slide163.xml"/><Relationship Id="rId170" Type="http://schemas.openxmlformats.org/officeDocument/2006/relationships/slide" Target="slides/slide164.xml"/><Relationship Id="rId171" Type="http://schemas.openxmlformats.org/officeDocument/2006/relationships/slide" Target="slides/slide165.xml"/><Relationship Id="rId172" Type="http://schemas.openxmlformats.org/officeDocument/2006/relationships/slide" Target="slides/slide166.xml"/><Relationship Id="rId173" Type="http://schemas.openxmlformats.org/officeDocument/2006/relationships/slide" Target="slides/slide167.xml"/><Relationship Id="rId174" Type="http://schemas.openxmlformats.org/officeDocument/2006/relationships/slide" Target="slides/slide168.xml"/><Relationship Id="rId175" Type="http://schemas.openxmlformats.org/officeDocument/2006/relationships/slide" Target="slides/slide169.xml"/><Relationship Id="rId176" Type="http://schemas.openxmlformats.org/officeDocument/2006/relationships/slide" Target="slides/slide170.xml"/><Relationship Id="rId177" Type="http://schemas.openxmlformats.org/officeDocument/2006/relationships/slide" Target="slides/slide171.xml"/><Relationship Id="rId178" Type="http://schemas.openxmlformats.org/officeDocument/2006/relationships/slide" Target="slides/slide172.xml"/><Relationship Id="rId179" Type="http://schemas.openxmlformats.org/officeDocument/2006/relationships/slide" Target="slides/slide173.xml"/><Relationship Id="rId180" Type="http://schemas.openxmlformats.org/officeDocument/2006/relationships/slide" Target="slides/slide174.xml"/><Relationship Id="rId181" Type="http://schemas.openxmlformats.org/officeDocument/2006/relationships/slide" Target="slides/slide175.xml"/><Relationship Id="rId182" Type="http://schemas.openxmlformats.org/officeDocument/2006/relationships/slide" Target="slides/slide176.xml"/><Relationship Id="rId183" Type="http://schemas.openxmlformats.org/officeDocument/2006/relationships/slide" Target="slides/slide177.xml"/><Relationship Id="rId184" Type="http://schemas.openxmlformats.org/officeDocument/2006/relationships/slide" Target="slides/slide178.xml"/><Relationship Id="rId185" Type="http://schemas.openxmlformats.org/officeDocument/2006/relationships/slide" Target="slides/slide179.xml"/><Relationship Id="rId186" Type="http://schemas.openxmlformats.org/officeDocument/2006/relationships/slide" Target="slides/slide180.xml"/><Relationship Id="rId187" Type="http://schemas.openxmlformats.org/officeDocument/2006/relationships/slide" Target="slides/slide181.xml"/><Relationship Id="rId188" Type="http://schemas.openxmlformats.org/officeDocument/2006/relationships/slide" Target="slides/slide182.xml"/><Relationship Id="rId189" Type="http://schemas.openxmlformats.org/officeDocument/2006/relationships/slide" Target="slides/slide183.xml"/><Relationship Id="rId190" Type="http://schemas.openxmlformats.org/officeDocument/2006/relationships/slide" Target="slides/slide184.xml"/><Relationship Id="rId191" Type="http://schemas.openxmlformats.org/officeDocument/2006/relationships/slide" Target="slides/slide185.xml"/><Relationship Id="rId192" Type="http://schemas.openxmlformats.org/officeDocument/2006/relationships/slide" Target="slides/slide186.xml"/><Relationship Id="rId193" Type="http://schemas.openxmlformats.org/officeDocument/2006/relationships/slide" Target="slides/slide187.xml"/><Relationship Id="rId194" Type="http://schemas.openxmlformats.org/officeDocument/2006/relationships/slide" Target="slides/slide188.xml"/><Relationship Id="rId195" Type="http://schemas.openxmlformats.org/officeDocument/2006/relationships/slide" Target="slides/slide189.xml"/><Relationship Id="rId196" Type="http://schemas.openxmlformats.org/officeDocument/2006/relationships/slide" Target="slides/slide190.xml"/><Relationship Id="rId197" Type="http://schemas.openxmlformats.org/officeDocument/2006/relationships/slide" Target="slides/slide191.xml"/><Relationship Id="rId198" Type="http://schemas.openxmlformats.org/officeDocument/2006/relationships/slide" Target="slides/slide192.xml"/><Relationship Id="rId199" Type="http://schemas.openxmlformats.org/officeDocument/2006/relationships/slide" Target="slides/slide193.xml"/><Relationship Id="rId200" Type="http://schemas.openxmlformats.org/officeDocument/2006/relationships/slide" Target="slides/slide194.xml"/><Relationship Id="rId201" Type="http://schemas.openxmlformats.org/officeDocument/2006/relationships/slide" Target="slides/slide195.xml"/><Relationship Id="rId202" Type="http://schemas.openxmlformats.org/officeDocument/2006/relationships/slide" Target="slides/slide196.xml"/><Relationship Id="rId203" Type="http://schemas.openxmlformats.org/officeDocument/2006/relationships/slide" Target="slides/slide197.xml"/><Relationship Id="rId204" Type="http://schemas.openxmlformats.org/officeDocument/2006/relationships/slide" Target="slides/slide198.xml"/><Relationship Id="rId205" Type="http://schemas.openxmlformats.org/officeDocument/2006/relationships/slide" Target="slides/slide199.xml"/><Relationship Id="rId206" Type="http://schemas.openxmlformats.org/officeDocument/2006/relationships/slide" Target="slides/slide200.xml"/><Relationship Id="rId207" Type="http://schemas.openxmlformats.org/officeDocument/2006/relationships/slide" Target="slides/slide201.xml"/><Relationship Id="rId208" Type="http://schemas.openxmlformats.org/officeDocument/2006/relationships/slide" Target="slides/slide202.xml"/><Relationship Id="rId209" Type="http://schemas.openxmlformats.org/officeDocument/2006/relationships/slide" Target="slides/slide203.xml"/><Relationship Id="rId210" Type="http://schemas.openxmlformats.org/officeDocument/2006/relationships/slide" Target="slides/slide204.xml"/><Relationship Id="rId211" Type="http://schemas.openxmlformats.org/officeDocument/2006/relationships/slide" Target="slides/slide205.xml"/><Relationship Id="rId212" Type="http://schemas.openxmlformats.org/officeDocument/2006/relationships/slide" Target="slides/slide206.xml"/><Relationship Id="rId213" Type="http://schemas.openxmlformats.org/officeDocument/2006/relationships/slide" Target="slides/slide207.xml"/><Relationship Id="rId214" Type="http://schemas.openxmlformats.org/officeDocument/2006/relationships/slide" Target="slides/slide208.xml"/><Relationship Id="rId215" Type="http://schemas.openxmlformats.org/officeDocument/2006/relationships/slide" Target="slides/slide209.xml"/><Relationship Id="rId216" Type="http://schemas.openxmlformats.org/officeDocument/2006/relationships/slide" Target="slides/slide210.xml"/><Relationship Id="rId217" Type="http://schemas.openxmlformats.org/officeDocument/2006/relationships/slide" Target="slides/slide211.xml"/><Relationship Id="rId218" Type="http://schemas.openxmlformats.org/officeDocument/2006/relationships/slide" Target="slides/slide212.xml"/><Relationship Id="rId219" Type="http://schemas.openxmlformats.org/officeDocument/2006/relationships/slide" Target="slides/slide213.xml"/><Relationship Id="rId220" Type="http://schemas.openxmlformats.org/officeDocument/2006/relationships/slide" Target="slides/slide214.xml"/><Relationship Id="rId221" Type="http://schemas.openxmlformats.org/officeDocument/2006/relationships/slide" Target="slides/slide215.xml"/><Relationship Id="rId222" Type="http://schemas.openxmlformats.org/officeDocument/2006/relationships/slide" Target="slides/slide216.xml"/><Relationship Id="rId223" Type="http://schemas.openxmlformats.org/officeDocument/2006/relationships/slide" Target="slides/slide217.xml"/><Relationship Id="rId224" Type="http://schemas.openxmlformats.org/officeDocument/2006/relationships/slide" Target="slides/slide218.xml"/><Relationship Id="rId225" Type="http://schemas.openxmlformats.org/officeDocument/2006/relationships/slide" Target="slides/slide219.xml"/><Relationship Id="rId226" Type="http://schemas.openxmlformats.org/officeDocument/2006/relationships/slide" Target="slides/slide220.xml"/><Relationship Id="rId227" Type="http://schemas.openxmlformats.org/officeDocument/2006/relationships/slide" Target="slides/slide221.xml"/><Relationship Id="rId228" Type="http://schemas.openxmlformats.org/officeDocument/2006/relationships/slide" Target="slides/slide222.xml"/><Relationship Id="rId229" Type="http://schemas.openxmlformats.org/officeDocument/2006/relationships/slide" Target="slides/slide223.xml"/><Relationship Id="rId230" Type="http://schemas.openxmlformats.org/officeDocument/2006/relationships/slide" Target="slides/slide224.xml"/><Relationship Id="rId231" Type="http://schemas.openxmlformats.org/officeDocument/2006/relationships/slide" Target="slides/slide225.xml"/><Relationship Id="rId232" Type="http://schemas.openxmlformats.org/officeDocument/2006/relationships/slide" Target="slides/slide226.xml"/><Relationship Id="rId233" Type="http://schemas.openxmlformats.org/officeDocument/2006/relationships/slide" Target="slides/slide227.xml"/><Relationship Id="rId234" Type="http://schemas.openxmlformats.org/officeDocument/2006/relationships/slide" Target="slides/slide228.xml"/><Relationship Id="rId235" Type="http://schemas.openxmlformats.org/officeDocument/2006/relationships/slide" Target="slides/slide229.xml"/><Relationship Id="rId236" Type="http://schemas.openxmlformats.org/officeDocument/2006/relationships/slide" Target="slides/slide230.xml"/><Relationship Id="rId237" Type="http://schemas.openxmlformats.org/officeDocument/2006/relationships/slide" Target="slides/slide231.xml"/><Relationship Id="rId238" Type="http://schemas.openxmlformats.org/officeDocument/2006/relationships/slide" Target="slides/slide232.xml"/><Relationship Id="rId239" Type="http://schemas.openxmlformats.org/officeDocument/2006/relationships/slide" Target="slides/slide233.xml"/><Relationship Id="rId240" Type="http://schemas.openxmlformats.org/officeDocument/2006/relationships/slide" Target="slides/slide234.xml"/><Relationship Id="rId241" Type="http://schemas.openxmlformats.org/officeDocument/2006/relationships/slide" Target="slides/slide235.xml"/><Relationship Id="rId242" Type="http://schemas.openxmlformats.org/officeDocument/2006/relationships/slide" Target="slides/slide236.xml"/><Relationship Id="rId243" Type="http://schemas.openxmlformats.org/officeDocument/2006/relationships/slide" Target="slides/slide237.xml"/><Relationship Id="rId244" Type="http://schemas.openxmlformats.org/officeDocument/2006/relationships/slide" Target="slides/slide238.xml"/><Relationship Id="rId245" Type="http://schemas.openxmlformats.org/officeDocument/2006/relationships/slide" Target="slides/slide239.xml"/><Relationship Id="rId246" Type="http://schemas.openxmlformats.org/officeDocument/2006/relationships/slide" Target="slides/slide240.xml"/><Relationship Id="rId247" Type="http://schemas.openxmlformats.org/officeDocument/2006/relationships/slide" Target="slides/slide241.xml"/><Relationship Id="rId248" Type="http://schemas.openxmlformats.org/officeDocument/2006/relationships/slide" Target="slides/slide242.xml"/><Relationship Id="rId249" Type="http://schemas.openxmlformats.org/officeDocument/2006/relationships/slide" Target="slides/slide243.xml"/><Relationship Id="rId250" Type="http://schemas.openxmlformats.org/officeDocument/2006/relationships/slide" Target="slides/slide244.xml"/><Relationship Id="rId251" Type="http://schemas.openxmlformats.org/officeDocument/2006/relationships/slide" Target="slides/slide245.xml"/><Relationship Id="rId252" Type="http://schemas.openxmlformats.org/officeDocument/2006/relationships/slide" Target="slides/slide246.xml"/><Relationship Id="rId253" Type="http://schemas.openxmlformats.org/officeDocument/2006/relationships/slide" Target="slides/slide247.xml"/><Relationship Id="rId254" Type="http://schemas.openxmlformats.org/officeDocument/2006/relationships/slide" Target="slides/slide248.xml"/><Relationship Id="rId255" Type="http://schemas.openxmlformats.org/officeDocument/2006/relationships/slide" Target="slides/slide249.xml"/><Relationship Id="rId256" Type="http://schemas.openxmlformats.org/officeDocument/2006/relationships/slide" Target="slides/slide250.xml"/><Relationship Id="rId257" Type="http://schemas.openxmlformats.org/officeDocument/2006/relationships/slide" Target="slides/slide251.xml"/><Relationship Id="rId258" Type="http://schemas.openxmlformats.org/officeDocument/2006/relationships/slide" Target="slides/slide252.xml"/><Relationship Id="rId259" Type="http://schemas.openxmlformats.org/officeDocument/2006/relationships/slide" Target="slides/slide253.xml"/><Relationship Id="rId260" Type="http://schemas.openxmlformats.org/officeDocument/2006/relationships/slide" Target="slides/slide254.xml"/><Relationship Id="rId261" Type="http://schemas.openxmlformats.org/officeDocument/2006/relationships/slide" Target="slides/slide255.xml"/><Relationship Id="rId262" Type="http://schemas.openxmlformats.org/officeDocument/2006/relationships/slide" Target="slides/slide256.xml"/><Relationship Id="rId263" Type="http://schemas.openxmlformats.org/officeDocument/2006/relationships/slide" Target="slides/slide257.xml"/><Relationship Id="rId264" Type="http://schemas.openxmlformats.org/officeDocument/2006/relationships/slide" Target="slides/slide258.xml"/><Relationship Id="rId265" Type="http://schemas.openxmlformats.org/officeDocument/2006/relationships/slide" Target="slides/slide259.xml"/><Relationship Id="rId266" Type="http://schemas.openxmlformats.org/officeDocument/2006/relationships/slide" Target="slides/slide260.xml"/><Relationship Id="rId267" Type="http://schemas.openxmlformats.org/officeDocument/2006/relationships/slide" Target="slides/slide261.xml"/><Relationship Id="rId268" Type="http://schemas.openxmlformats.org/officeDocument/2006/relationships/slide" Target="slides/slide262.xml"/><Relationship Id="rId269" Type="http://schemas.openxmlformats.org/officeDocument/2006/relationships/slide" Target="slides/slide263.xml"/><Relationship Id="rId270" Type="http://schemas.openxmlformats.org/officeDocument/2006/relationships/slide" Target="slides/slide264.xml"/><Relationship Id="rId271" Type="http://schemas.openxmlformats.org/officeDocument/2006/relationships/slide" Target="slides/slide265.xml"/><Relationship Id="rId272" Type="http://schemas.openxmlformats.org/officeDocument/2006/relationships/slide" Target="slides/slide266.xml"/><Relationship Id="rId273" Type="http://schemas.openxmlformats.org/officeDocument/2006/relationships/slide" Target="slides/slide267.xml"/><Relationship Id="rId274" Type="http://schemas.openxmlformats.org/officeDocument/2006/relationships/slide" Target="slides/slide268.xml"/><Relationship Id="rId275" Type="http://schemas.openxmlformats.org/officeDocument/2006/relationships/slide" Target="slides/slide269.xml"/><Relationship Id="rId276" Type="http://schemas.openxmlformats.org/officeDocument/2006/relationships/slide" Target="slides/slide270.xml"/><Relationship Id="rId277" Type="http://schemas.openxmlformats.org/officeDocument/2006/relationships/slide" Target="slides/slide271.xml"/><Relationship Id="rId278" Type="http://schemas.openxmlformats.org/officeDocument/2006/relationships/slide" Target="slides/slide272.xml"/><Relationship Id="rId279" Type="http://schemas.openxmlformats.org/officeDocument/2006/relationships/slide" Target="slides/slide273.xml"/><Relationship Id="rId280" Type="http://schemas.openxmlformats.org/officeDocument/2006/relationships/slide" Target="slides/slide274.xml"/><Relationship Id="rId281" Type="http://schemas.openxmlformats.org/officeDocument/2006/relationships/slide" Target="slides/slide275.xml"/><Relationship Id="rId282" Type="http://schemas.openxmlformats.org/officeDocument/2006/relationships/slide" Target="slides/slide276.xml"/><Relationship Id="rId283" Type="http://schemas.openxmlformats.org/officeDocument/2006/relationships/slide" Target="slides/slide277.xml"/><Relationship Id="rId284" Type="http://schemas.openxmlformats.org/officeDocument/2006/relationships/slide" Target="slides/slide278.xml"/><Relationship Id="rId285" Type="http://schemas.openxmlformats.org/officeDocument/2006/relationships/slide" Target="slides/slide279.xml"/><Relationship Id="rId286" Type="http://schemas.openxmlformats.org/officeDocument/2006/relationships/slide" Target="slides/slide280.xml"/><Relationship Id="rId287" Type="http://schemas.openxmlformats.org/officeDocument/2006/relationships/slide" Target="slides/slide281.xml"/><Relationship Id="rId288" Type="http://schemas.openxmlformats.org/officeDocument/2006/relationships/slide" Target="slides/slide282.xml"/><Relationship Id="rId289" Type="http://schemas.openxmlformats.org/officeDocument/2006/relationships/slide" Target="slides/slide283.xml"/><Relationship Id="rId290" Type="http://schemas.openxmlformats.org/officeDocument/2006/relationships/slide" Target="slides/slide284.xml"/><Relationship Id="rId291" Type="http://schemas.openxmlformats.org/officeDocument/2006/relationships/slide" Target="slides/slide285.xml"/><Relationship Id="rId292" Type="http://schemas.openxmlformats.org/officeDocument/2006/relationships/slide" Target="slides/slide286.xml"/><Relationship Id="rId293" Type="http://schemas.openxmlformats.org/officeDocument/2006/relationships/slide" Target="slides/slide287.xml"/><Relationship Id="rId294" Type="http://schemas.openxmlformats.org/officeDocument/2006/relationships/slide" Target="slides/slide288.xml"/><Relationship Id="rId295" Type="http://schemas.openxmlformats.org/officeDocument/2006/relationships/slide" Target="slides/slide289.xml"/><Relationship Id="rId296" Type="http://schemas.openxmlformats.org/officeDocument/2006/relationships/slide" Target="slides/slide290.xml"/><Relationship Id="rId297" Type="http://schemas.openxmlformats.org/officeDocument/2006/relationships/slide" Target="slides/slide291.xml"/><Relationship Id="rId298" Type="http://schemas.openxmlformats.org/officeDocument/2006/relationships/slide" Target="slides/slide292.xml"/><Relationship Id="rId299" Type="http://schemas.openxmlformats.org/officeDocument/2006/relationships/slide" Target="slides/slide293.xml"/><Relationship Id="rId300" Type="http://schemas.openxmlformats.org/officeDocument/2006/relationships/slide" Target="slides/slide294.xml"/><Relationship Id="rId301" Type="http://schemas.openxmlformats.org/officeDocument/2006/relationships/slide" Target="slides/slide29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ertiary-infotech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640080"/>
            <a:ext cx="960120" cy="96012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0058400" y="658368"/>
            <a:ext cx="1417320" cy="914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0" y="749808"/>
            <a:ext cx="1417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PYTHON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1170432"/>
            <a:ext cx="1417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VIBE CODING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10312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COURSE SLIDES  ·  WSQ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606040"/>
            <a:ext cx="1097280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Build and Deploy Python Applications with Vibe Coding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41248" y="4343400"/>
            <a:ext cx="2194560" cy="5486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4617720"/>
            <a:ext cx="109728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WSQ Course Code: TGS-2019504591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Conducted by Tertiary Infotech Academy Pte Ltd  ·  UEN 201200696W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594360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Version v1.5  ·  20 July 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6263640"/>
            <a:ext cx="109728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© 2026 Tertiary Infotech Academy Pte Ltd. All rights reserved.  ·  www.tertiarycourses.com.sg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COURSE ADMINISTRATION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Welcome &amp; Housekeeping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TRAQOM · SSG DIGITAL ATTENDANCE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Digital Attendance (Mandatory)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It is mandatory to take the AM, PM and Assessment digital attendance for WSQ-funded courses.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The trainer/administrator displays the digital attendance QR code from the SSG portal.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Scan the QR code with your mobile phone camera and submit your attendance.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A minimum of 75% attendance is required to be eligible for assessment and funding.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5B6372"/>
                </a:solidFill>
                <a:latin typeface="Arial"/>
              </a:rPr>
              <a:t>YOUR TRAINER · GENERAL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About the Trainer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68780" y="2286000"/>
            <a:ext cx="1554480" cy="1554480"/>
          </a:xfrm>
          <a:prstGeom prst="ellipse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68780" y="2286000"/>
            <a:ext cx="1554480" cy="1554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4400" b="1">
                <a:solidFill>
                  <a:srgbClr val="FFFFFF"/>
                </a:solidFill>
                <a:latin typeface="Arial"/>
              </a:rPr>
              <a:t>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160520"/>
            <a:ext cx="3063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100" b="1">
                <a:solidFill>
                  <a:srgbClr val="161B26"/>
                </a:solidFill>
                <a:latin typeface="Arial"/>
              </a:rPr>
              <a:t>Your Trainer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754880"/>
            <a:ext cx="30632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General Trainer template —
to be completed by the trainer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80560" y="1783080"/>
            <a:ext cx="6949440" cy="563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80560" y="1783080"/>
            <a:ext cx="91440" cy="5638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73168" y="1783080"/>
            <a:ext cx="6400800" cy="56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NAME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80560" y="2529840"/>
            <a:ext cx="6949440" cy="563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480560" y="2529840"/>
            <a:ext cx="91440" cy="56388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73168" y="2529840"/>
            <a:ext cx="6400800" cy="56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TITLE / DESIGNATION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80560" y="3276600"/>
            <a:ext cx="6949440" cy="563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480560" y="3276600"/>
            <a:ext cx="91440" cy="56388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73168" y="3276600"/>
            <a:ext cx="6400800" cy="56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QUALIFICATIONS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80560" y="4023360"/>
            <a:ext cx="6949440" cy="563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480560" y="4023360"/>
            <a:ext cx="91440" cy="56388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73168" y="4023360"/>
            <a:ext cx="6400800" cy="56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AREAS OF EXPERTISE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480560" y="4770120"/>
            <a:ext cx="6949440" cy="563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480560" y="4770120"/>
            <a:ext cx="91440" cy="5638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773168" y="4770120"/>
            <a:ext cx="6400800" cy="56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TRAINING &amp; INDUSTRY EXPERIENCE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480560" y="5516880"/>
            <a:ext cx="6949440" cy="563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480560" y="5516880"/>
            <a:ext cx="91440" cy="56388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773168" y="5516880"/>
            <a:ext cx="6400800" cy="56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CONTACT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YOUR TRAINER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About the Trainer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68780" y="2286000"/>
            <a:ext cx="1554480" cy="155448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68780" y="2286000"/>
            <a:ext cx="1554480" cy="1554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4400" b="1">
                <a:solidFill>
                  <a:srgbClr val="FFFFFF"/>
                </a:solidFill>
                <a:latin typeface="Arial"/>
              </a:rPr>
              <a:t>AA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160520"/>
            <a:ext cx="3063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100" b="1">
                <a:solidFill>
                  <a:srgbClr val="161B26"/>
                </a:solidFill>
                <a:latin typeface="Arial"/>
              </a:rPr>
              <a:t>Dr. Alfred Ang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754880"/>
            <a:ext cx="30632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Principal Trainer
Tertiary Infotech Academy Pte. Ltd.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80560" y="1783080"/>
            <a:ext cx="6949440" cy="9372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80560" y="1783080"/>
            <a:ext cx="91440" cy="9372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73168" y="1783080"/>
            <a:ext cx="6400800" cy="9372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ROLE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Principal Trainer, Tertiary Infotech Academy Pte. Ltd.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80560" y="2903220"/>
            <a:ext cx="6949440" cy="9372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480560" y="2903220"/>
            <a:ext cx="91440" cy="9372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73168" y="2903220"/>
            <a:ext cx="6400800" cy="9372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EXPERTISE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Python application development, AI-assisted (vibe) coding, data analytics and deployment.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80560" y="4023360"/>
            <a:ext cx="6949440" cy="9372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480560" y="4023360"/>
            <a:ext cx="91440" cy="93726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73168" y="4023360"/>
            <a:ext cx="6400800" cy="9372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DELIVERS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WSQ courses on Python, AI-assisted development, data engineering &amp; software delivery.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80560" y="5143500"/>
            <a:ext cx="6949440" cy="9372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480560" y="5143500"/>
            <a:ext cx="91440" cy="93726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73168" y="5143500"/>
            <a:ext cx="6400800" cy="9372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FOUNDER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Founder and lead instructor at Tertiary Infotech / Tertiary Courses.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ICE-BREAKER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Let's Know Each Other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Your name and organisation / role.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Your experience with Python and with AI coding assistants (if any).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What you want to build and deploy after this course.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HOUSEKEEPING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Ground Rules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874520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Set your mobile phone to silent mode.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874520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Participate actively — no question is too small.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10712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Mutual respect: agree to disagree.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10712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One conversation at a time.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46904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Be punctual; return from breaks on time.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46904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75% attendance is required.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COURSE PORTAL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Download Your Course Material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874519"/>
            <a:ext cx="6903720" cy="3611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lms-tms-port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9051" y="2011679"/>
            <a:ext cx="5340096" cy="33375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5596128"/>
            <a:ext cx="6903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https://lms-tms.tertiaryinfotech.com</a:t>
            </a:r>
          </a:p>
        </p:txBody>
      </p:sp>
      <p:sp>
        <p:nvSpPr>
          <p:cNvPr id="10" name="Rectangle 9"/>
          <p:cNvSpPr/>
          <p:nvPr/>
        </p:nvSpPr>
        <p:spPr>
          <a:xfrm>
            <a:off x="7909560" y="1874519"/>
            <a:ext cx="3520440" cy="3886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65592" y="2103120"/>
            <a:ext cx="30175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400">
                <a:solidFill>
                  <a:srgbClr val="161B26"/>
                </a:solidFill>
                <a:latin typeface="Arial"/>
              </a:rPr>
              <a:t>•  Sign in with the email address you used to register for this course.</a:t>
            </a:r>
          </a:p>
          <a:p>
            <a:pPr>
              <a:spcAft>
                <a:spcPts val="1000"/>
              </a:spcAft>
            </a:pPr>
            <a:r>
              <a:rPr sz="1400">
                <a:solidFill>
                  <a:srgbClr val="161B26"/>
                </a:solidFill>
                <a:latin typeface="Arial"/>
              </a:rPr>
              <a:t>•  Download the slides and the Learner Guide before the assessment.</a:t>
            </a:r>
          </a:p>
          <a:p>
            <a:pPr>
              <a:spcAft>
                <a:spcPts val="1000"/>
              </a:spcAft>
            </a:pPr>
            <a:r>
              <a:rPr sz="1400">
                <a:solidFill>
                  <a:srgbClr val="161B26"/>
                </a:solidFill>
                <a:latin typeface="Arial"/>
              </a:rPr>
              <a:t>•  The assessment is OPEN BOOK — have both open on the day.</a:t>
            </a:r>
          </a:p>
          <a:p>
            <a:pPr>
              <a:spcAft>
                <a:spcPts val="1000"/>
              </a:spcAft>
            </a:pPr>
            <a:r>
              <a:rPr sz="1400">
                <a:solidFill>
                  <a:srgbClr val="161B26"/>
                </a:solidFill>
                <a:latin typeface="Arial"/>
              </a:rPr>
              <a:t>•  Your attendance and assessment results are recorded here too.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SCHEDULE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Lesson Plan — 3 Days, 8 hours/day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Days 1–2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Day 3 &amp; timing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Day 1 — Vibe Coding Foundations &amp; Object-Oriented Python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Topic 1: Vibe Coding Foundations (Labs 1–4)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Topic 2: Object-Oriented Programming in Python (Labs 5–8)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Day 2 — Data Analytics with pandas, Pydantic &amp; FastAPI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Topic 3: Data Analytics with pandas (Labs 9–12)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Topic 4: Data Modelling with Pydantic and FastAPI begins (Labs 13–16)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Day 3 — FastAPI, Packaging, Deployment &amp; Assessment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Topic 4: Data Modelling with Pydantic and FastAPI completes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Topic 5: Packaging and Deployment (Labs 17–20)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Final Assessment (WA + PP)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Daily timing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9:30am–6:30pm · 1-hour lunch · tea breaks within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WHAT YOU'LL ACHIEVE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Learning Outcomes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10634472" cy="683971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683971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1850745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1850745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9427464" cy="50109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LO1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Apply vibe coding practices — set up a reproducible Python project with uv, and use an AI coding assistant to scaffold, explain and refactor working code.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2704795"/>
            <a:ext cx="10634472" cy="683971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2704795"/>
            <a:ext cx="91440" cy="683971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33272" y="2772460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33272" y="277246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64792" y="2832811"/>
            <a:ext cx="9427464" cy="50109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LO2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Design and implement object-oriented Python — classes, encapsulation, inheritance and composition — using AI-assisted conversational design.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626510"/>
            <a:ext cx="10634472" cy="683971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626510"/>
            <a:ext cx="91440" cy="683971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5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5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754526"/>
            <a:ext cx="9427464" cy="50109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LO3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Build data analytics pipelines with pandas — load, clean, transform, group and aggregate realistic datasets into reportable results.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7240" y="4548225"/>
            <a:ext cx="10634472" cy="683971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77240" y="4548225"/>
            <a:ext cx="91440" cy="683971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33272" y="461589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33272" y="461589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64792" y="4676241"/>
            <a:ext cx="9427464" cy="50109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LO4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Model and validate data with Pydantic and expose it through a FastAPI application with typed request and response models.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5469940"/>
            <a:ext cx="10634472" cy="683971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5469940"/>
            <a:ext cx="91440" cy="683971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537605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537605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5597956"/>
            <a:ext cx="9427464" cy="50109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LO5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Package and deploy a Python application — dependency locking, configuration, containerisation and a running deployed service.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BEFORE YOU START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Briefing for Assessment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Clear your desk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Phones and materials go under the table or on the floor.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No photos or recording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Assessment scripts must not be photographed or recorded.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No discussion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Work individually — no talking during the assessment.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Black or blue pen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Use a black/blue pen for hard-copy assessments.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No correction fluid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Liquid paper and correction tape are not permitted.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Scripts collected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All scripts are collected when time is up.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FINAL ASSESSMENT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Assessment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Written Assessment (WA) — Short-Answer Questions (SAQ), 50 minutes, open book.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Case Study (CS) — a CardGuard scenario with practical tasks drawn from the labs, 80 minutes, open book.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Format: Open Book — slides, Learner Guide and approved materials only.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A minimum of 75% attendance is required to be eligible for assessment and funding.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An appeal process is available if required.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ON ASSESSMENT 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Assessment 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41424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41424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TRAQOM survey — scan the QR code on the LMS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18841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66313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66313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30497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30497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12617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Assessment digital attendance — scan the SSG QR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7914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55386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55386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19570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19570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1690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Sit WA (SAQ) then the Case Study (CS) — open book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6987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44459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44459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08643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08643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0763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Submit your answers on the LMS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6060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533532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33532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097716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97716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79836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Sign the Assessment Summary Record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CORE CONCEPTS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What Vibe Coding Is — and What It Is Not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What is Vibe Coding?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AI-assisted, human-owned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You specify, the assistant drafts, you review and own the result.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Specification over guesswork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State the goal, constraints, inputs and expected output.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Verify, never assume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Generated code that runs is not the same as generated code that is correct.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Faster iteration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Refactoring conversationally beats rewriting by hand — with a test to prove it.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THE METHOD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The Vibe Coding Loop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1 · Specify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State the goal precisely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Name the constraints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Give real inputs and expected output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1783080"/>
            <a:ext cx="33375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0B981"/>
                </a:solidFill>
                <a:latin typeface="Arial"/>
              </a:rPr>
              <a:t>2 · Generate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Let the assistant draft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Read every line before running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Ask for the shape you want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6676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66760" y="1783080"/>
            <a:ext cx="3337560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7C3AED"/>
                </a:solidFill>
                <a:latin typeface="Arial"/>
              </a:rPr>
              <a:t>3 · Verify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Run it against edge cases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Test the error paths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Fix by naming the defect, not 'improve this'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01168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WHY IT MATTERS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560320"/>
            <a:ext cx="1033272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800" b="1">
                <a:solidFill>
                  <a:srgbClr val="161B26"/>
                </a:solidFill>
                <a:latin typeface="Arial"/>
              </a:rPr>
              <a:t>You are accountable for every line you ship.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" y="4480560"/>
            <a:ext cx="10058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5B6372"/>
                </a:solidFill>
                <a:latin typeface="Arial"/>
              </a:rPr>
              <a:t>The assistant drafts; you review, test and own the result. That is the difference between vibe coding and guessing.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TOOLING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The Toolchain for This Course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Build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Serve &amp; ship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uv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Project, interpreter and locked dependencies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uv init · uv add · uv run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pandas 3.0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DataFrames, cleaning, groupby, rolling windows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Copy-on-Write is the default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Pydantic + FastAPI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Typed models, validation, HTTP endpoints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OpenAPI docs for free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Streamlit + Docker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Analyst UI and a deployable image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One image, any machine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17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YOUR WORKBENCH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Your Workbench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uv manages Python, the virtual environment and the lockfile — no venv activation by hand.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An AI coding assistant (Claude, Copilot or Cursor) drafts code you review.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SQLite ships with Python — the database needs no server and runs offline.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Every lab in this course builds one application: CardGuard, a card-transaction fraud screening system.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18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TOPIC 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Vibe Coding Foundations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6052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uv Projects · AI Coding Assistants · Prompting Patterns · AI-Assisted Refactoring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19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KEY CONCEPTS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Key Concepts — Vibe Coding Foundations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874520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Vibe coding is directing an AI assistant to write code you specify, review and own — you remain accountable for correctness.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874520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uv manages the interpreter, virtual environment and locked dependencies: uv init, uv add, uv run.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178808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Effective prompts state the goal, the constraints, the inputs and the expected output — vague prompts produce plausible but wrong code.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178808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Always read and run AI-generated code before trusting it; refactoring conversationally is faster than rewriting by hand.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20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WHAT YOU'LL 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Hands-On Labs — Vibe Coding Foundations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Labs 1–2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Set Up a Reproducible Python Project with uv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Write Effective Prompts for an AI Coding Assistant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1783080"/>
            <a:ext cx="33375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0B981"/>
                </a:solidFill>
                <a:latin typeface="Arial"/>
              </a:rPr>
              <a:t>Labs 3–4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Review and Correct AI-Generated Code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Refactor Working Code Conversationally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6676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66760" y="1783080"/>
            <a:ext cx="3337560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7C3AED"/>
                </a:solidFill>
                <a:latin typeface="Arial"/>
              </a:rPr>
              <a:t>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21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01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Set Up a Reproducible Python Project with uv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The learner installs uv, creates a project, adds locked dependencies, and runs code through uv so the environment is identical on every machine. This is the foundation every later lab builds 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A uv project with pyproject.toml, uv.lock and a working entry point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 &amp; libraries:  </a:t>
            </a:r>
            <a:r>
              <a:rPr sz="1300" b="0">
                <a:solidFill>
                  <a:srgbClr val="5B6372"/>
                </a:solidFill>
                <a:latin typeface="Arial"/>
              </a:rPr>
              <a:t>uv, Python 3.12, pyproject.toml, uv.lock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22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Set Up a Reproducible Python Project with uv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1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Confirm uv is installed and check the version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5257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2514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uv --version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Run this in your terminal, from the project folder.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23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Set Up a Reproducible Python Project with uv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2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Create a new project folder and initialise it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740664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4663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uv init cardguard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cd cardguard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Run this in your terminal, from the project folder.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24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Set Up a Reproducible Python Project with uv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3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Inspect what uv generated — note pyproject.toml is the project manifest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740664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4663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ls -a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cat pyproject.toml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Inspect what uv generated — note pyproject.toml is the project manifest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25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Set Up a Reproducible Python Project with uv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4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Pin the Python version so every learner runs the same interpreter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5257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2514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uv python pin 3.12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Run this in your terminal, from the project folder.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26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Set Up a Reproducible Python Project with uv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5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Add a dependency — uv resolves, installs and writes uv.lock in one step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5257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2514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uv add pandas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Run this in your terminal, from the project folder.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uv resolves, installs and records the dependency in uv.lock.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27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Set Up a Reproducible Python Project with uv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6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Open uv.lock and observe the exact pinned versions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5257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2514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head -30 uv.lock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Open uv.lock and observe the exact pinned versions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28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Set Up a Reproducible Python Project with uv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7 OF 9  ·  CONT. 1/2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Write a first script that proves the dependency is importable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3104387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28300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7E9AB8"/>
                </a:solidFill>
                <a:latin typeface="Consolas"/>
              </a:rPr>
              <a:t># main.py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import pandas as pd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def main() -&gt; None: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df = pd.DataFrame({"card": ["4111...1111", "5500...0004",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"4111...1111"],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             "merchant": ["SG Grocer", "Overseas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ATM", "SG Grocer"],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             "amount": [42.90, 800.00, 15.50]})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print(df)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print(f"Total screened: ${df['amount'].sum():,.2f}")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if __name__ == "__main__":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Read the signature first: what goes in, what comes out.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29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Set Up a Reproducible Python Project with uv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7 OF 9  ·  CONT. 2/2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Write a first script that proves the dependency is importable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5257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2514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main()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Read the signature first: what goes in, what comes out.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30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Set Up a Reproducible Python Project with uv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8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Run it through uv — no venv activation needed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5257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2514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uv run python main.py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Run this in your terminal, from the project folder.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uv run executes inside the project environment — no venv activation.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31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Set Up a Reproducible Python Project with uv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9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Prove reproducibility: delete the venv and restore it from the lockfile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955547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6812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rm -rf .venv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uv sync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uv run python main.py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uv run executes inside the project environment — no venv activation.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32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Set Up a Reproducible Python Project with uv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uv run python main.py prints the transaction DataFrame and the screened total. After deleting .venv, uv sync restores it and the script produces identical output.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33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01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Write Effective Prompts for an AI Coding Assistant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The learner contrasts a vague prompt with a specified prompt on the same task, then applies the goal-constraints-inputs-output pattern to generate a function that handles real edge cases.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Two versions of a transaction risk-scoring function and a written comparison of the prompts that produced them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 &amp; libraries:  </a:t>
            </a:r>
            <a:r>
              <a:rPr sz="1300" b="0">
                <a:solidFill>
                  <a:srgbClr val="5B6372"/>
                </a:solidFill>
                <a:latin typeface="Arial"/>
              </a:rPr>
              <a:t>AI coding assistant (Claude / Copilot / Cursor), uv, Python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34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Write Effective Prompts for an AI Coding Assistant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1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Start from the vague prompt and record exactly what you get back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5257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2514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Ask the assistant: write a function to score a transaction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Start from the vague prompt and record exactly what you get back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35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Write Effective Prompts for an AI Coding Assistant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2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Read the generated code critically — list what it assumed. Typical gaps: what counts as high value, whether an overseas merchant matters, what the score range is, what happens for a negative amount.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36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Write Effective Prompts for an AI Coding Assistant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3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Rewrite the prompt using the four-part pattern — goal, constraints, inputs, expected output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2244851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19705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Ask the assistant: Write a Python function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score_transaction(amount: float, is_overseas: bool, hour: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int) -&gt; dict that returns a risk score from 0 to 100 and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the reasons that contributed to it. Add 40 points when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the amount exceeds $500, 30 points when the merchant is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overseas, and 20 points when the hour is between 1am and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5am. Cap the score at 100. Raise ValueError for a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negative amount or an hour outside 0-23. Return the score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and a list of reason strings.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Rewrite the prompt using the four-part pattern — goal, constraints, inputs, expected output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37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Write Effective Prompts for an AI Coding Assistant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4 OF 7  ·  CONT. 1/2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Save the improved result and read every line before running it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3104387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28300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7E9AB8"/>
                </a:solidFill>
                <a:latin typeface="Consolas"/>
              </a:rPr>
              <a:t># scoring.py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def score_transaction(amount: float, is_overseas: bool, hour: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int) -&gt; dict: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"""Return a 0-100 risk score for one transaction, with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its reasons."""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if amount &lt; 0: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raise ValueError("amount must not be negative")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if not 0 &lt;= hour &lt;= 23: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raise ValueError("hour must be between 0 and 23")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HIGH_VALUE = 500.00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score, reasons = 0, []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Read the signature first: what goes in, what comes out.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The docstring states the contract the function promises.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Invalid input fails fast and loudly, never silently.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38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Write Effective Prompts for an AI Coding Assistant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4 OF 7  ·  CONT. 2/2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Save the improved result and read every line before running it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267462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2400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if amount &gt; HIGH_VALUE: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score += 40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reasons.append("high value")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if is_overseas: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score += 30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reasons.append("overseas merchant")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if 1 &lt;= hour &lt;= 5: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score += 20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reasons.append("unusual hour")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return {"score": min(score, 100), "reasons": reasons}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Read the signature first: what goes in, what comes out.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The docstring states the contract the function promises.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Invalid input fails fast and loudly, never silently.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39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Write Effective Prompts for an AI Coding Assistant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5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Test the boundaries the prompt specified — this is where generated code usually fails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2029967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175564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uv run python -c "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from scoring import score_transaction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print(score_transaction(42.90, False, 14))   # low risk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print(score_transaction(800.00, True, 3))    # every rule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fires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print(score_transaction(500.00, False, 14))  # exactly on the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threshold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"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Run this in your terminal, from the project folder.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uv run executes inside the project environment — no venv activation.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40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Write Effective Prompts for an AI Coding Assistant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6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Confirm the error paths actually raise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1815084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15407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uv run python -c "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from scoring import score_transaction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try: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score_transaction(-100, False, 14)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except ValueError as e: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print('correctly raised:', e)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"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Run this in your terminal, from the project folder.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uv run executes inside the project environment — no venv activation.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try/except handles the failure; finally always cleans up.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41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Write Effective Prompts for an AI Coding Assistant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7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Write two sentences in your notes: which prompt produced code you would ship, and why.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42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Write Effective Prompts for an AI Coding Assistant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The specified prompt produces a function that caps the score at 100, fires each rule independently, and raises ValueError on invalid input. The learner can state why the vague prompt was insufficient.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43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01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Review and Correct AI-Generated Code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The learner is given a plausible but subtly wrong implementation, finds the defects by testing rather than by reading alone, and corrects them. This lab establishes that the developer, not the assistant, owns correctness.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A corrected discount calculator plus a short defect log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 &amp; libraries:  </a:t>
            </a:r>
            <a:r>
              <a:rPr sz="1300" b="0">
                <a:solidFill>
                  <a:srgbClr val="5B6372"/>
                </a:solidFill>
                <a:latin typeface="Arial"/>
              </a:rPr>
              <a:t>AI coding assistant, uv, Python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44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Review and Correct AI-Generated Code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1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Save this generated function exactly as written — it looks reasonable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2244851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19705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7E9AB8"/>
                </a:solidFill>
                <a:latin typeface="Consolas"/>
              </a:rPr>
              <a:t># discount.py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def apply_discount(price, tier):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if tier == "gold":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return price * 0.8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elif tier == "silver":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return price * 0.9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elif tier == "bronze":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return price * 0.95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return price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Read the signature first: what goes in, what comes out.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45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Review and Correct AI-Generated Code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2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Probe it with the values a real order system would send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2029967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175564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uv run python -c "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from discount import apply_discount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print(apply_discount(100, 'gold'))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print(apply_discount(100, 'GOLD'))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print(apply_discount(100, None))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print(apply_discount(-50, 'gold'))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print(apply_discount(100.555, 'silver'))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"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Run this in your terminal, from the project folder.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uv run executes inside the project environment — no venv activation.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46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Review and Correct AI-Generated Code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3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Record the defects you found: case sensitivity, no validation of price, unrounded currency, silent fallthrough on an unknown tier, and no type hints.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47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Review and Correct AI-Generated Code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4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Ask the assistant to fix the specific defects — name them, do not say 'improve this'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16002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1325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Ask the assistant: Fix these defects in apply_discount: (1)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tier matching must be case-insensitive, (2) raise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ValueError for a negative price, (3) raise ValueError for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an unrecognised tier instead of silently returning the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full price, (4) round the result to 2 decimal places, (5)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add type hints and a docstring.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Invalid input fails fast and loudly, never silently.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48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Review and Correct AI-Generated Code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5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Review the corrected version line by line before accepting it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267462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2400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7E9AB8"/>
                </a:solidFill>
                <a:latin typeface="Consolas"/>
              </a:rPr>
              <a:t># discount.py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DISCOUNTS = {"gold": 0.20, "silver": 0.10, "bronze": 0.05}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def apply_discount(price: float, tier: str) -&gt; float: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"""Return the price after applying the tier discount."""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if price &lt; 0: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raise ValueError("price must not be negative")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key = (tier or "").strip().lower()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if key not in DISCOUNTS: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raise ValueError(f"unknown tier: {tier!r}")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return round(price * (1 - DISCOUNTS[key]), 2)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Read the signature first: what goes in, what comes out.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The docstring states the contract the function promises.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Invalid input fails fast and loudly, never silently.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49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Review and Correct AI-Generated Code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6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Re-run every probe that previously failed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267462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2400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uv run python -c "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from discount import apply_discount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print(apply_discount(100, 'GOLD'))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print(apply_discount(100.555, 'silver'))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for bad in [(-50, 'gold'), (100, 'platinum'), (100, None)]: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try: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apply_discount(*bad)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print('NOT CAUGHT:', bad)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except ValueError as e: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print('correctly raised:', e)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"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Run this in your terminal, from the project folder.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uv run executes inside the project environment — no venv activation.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try/except handles the failure; finally always cleans up.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50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Review and Correct AI-Generated Code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7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Note the lesson: the first version ran without error on the happy path. Running is not the same as correct.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51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Review and Correct AI-Generated Code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All five defects are fixed and demonstrated by tests. The learner can explain why reading alone did not reveal them.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52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01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Refactor Working Code Conversationally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The learner takes a working but poorly structured script, establishes a behavioural baseline, refactors it into small testable functions with AI assistance, and proves the output is unchanged.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A refactored sales summary script with an unchanged, verified output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 &amp; libraries:  </a:t>
            </a:r>
            <a:r>
              <a:rPr sz="1300" b="0">
                <a:solidFill>
                  <a:srgbClr val="5B6372"/>
                </a:solidFill>
                <a:latin typeface="Arial"/>
              </a:rPr>
              <a:t>AI coding assistant, uv, Python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53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Refactor Working Code Conversationally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1 OF 7  ·  CONT. 1/2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Save the working script — it produces correct output but is one long block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3104387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28300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7E9AB8"/>
                </a:solidFill>
                <a:latin typeface="Consolas"/>
              </a:rPr>
              <a:t># sales_report.py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orders = [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{"id": 1, "region": "North", "amount": 1200.50, "status":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"paid"},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{"id": 2, "region": "South", "amount": 890.00, "status":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"paid"},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{"id": 3, "region": "North", "amount": 450.25, "status":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"refunded"},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{"id": 4, "region": "East",  "amount": 2100.75, "status":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"paid"},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{"id": 5, "region": "South", "amount": 310.00, "status":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"pending"},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]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Save the working script — it produces correct output but is one long block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54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Refactor Working Code Conversationally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1 OF 7  ·  CONT. 2/2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Save the working script — it produces correct output but is one long block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2459735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218541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totals = {}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for o in orders: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if o["status"] == "paid":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if o["region"] not in totals: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  totals[o["region"]] = 0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totals[o["region"]] += o["amount"]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for r in sorted(totals):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print(f"{r}: ${totals[r]:,.2f}")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print(f"TOTAL: ${sum(totals.values()):,.2f}")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Save the working script — it produces correct output but is one long block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55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Refactor Working Code Conversationally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2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Capture the baseline output to a file — this is the contract the refactor must preserve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740664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4663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uv run python sales_report.py &gt; baseline.txt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cat baseline.txt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Run this in your terminal, from the project folder.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uv run executes inside the project environment — no venv activation.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56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Refactor Working Code Conversationally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3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Ask for a structural refactor and state explicitly that behaviour must not change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16002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1325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Ask the assistant: Refactor sales_report.py into three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functions — filter_paid(orders), total_by_region(orders)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and format_report(totals) — plus a main() guarded by if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__name__ == '__main__'. Add type hints. The printed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output must be byte-for-byte identical to the current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version.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Ask for a structural refactor and state explicitly that behaviour must not change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57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Refactor Working Code Conversationally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4 OF 7  ·  CONT. 1/4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Save the refactored version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3104387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28300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7E9AB8"/>
                </a:solidFill>
                <a:latin typeface="Consolas"/>
              </a:rPr>
              <a:t># sales_report.py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from typing import Iterable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Order = dict[str, object]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ORDERS: list[Order] = [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{"id": 1, "region": "North", "amount": 1200.50, "status":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"paid"},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{"id": 2, "region": "South", "amount": 890.00, "status":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"paid"},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{"id": 3, "region": "North", "amount": 450.25, "status":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"refunded"},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{"id": 4, "region": "East",  "amount": 2100.75, "status":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Read the signature first: what goes in, what comes out.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The docstring states the contract the function promises.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58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Refactor Working Code Conversationally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4 OF 7  ·  CONT. 2/4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Save the refactored version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3104387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28300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"paid"},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{"id": 5, "region": "South", "amount": 310.00, "status":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"pending"},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]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def filter_paid(orders: Iterable[Order]) -&gt; list[Order]: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"""Return only the orders with status 'paid'."""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return [o for o in orders if o["status"] == "paid"]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def total_by_region(orders: Iterable[Order]) -&gt; dict[str,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float]: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"""Sum order amounts grouped by region."""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totals: dict[str, float] = {}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Read the signature first: what goes in, what comes out.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The docstring states the contract the function promises.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59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Refactor Working Code Conversationally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4 OF 7  ·  CONT. 3/4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Save the refactored version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3104387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28300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for o in orders: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region = str(o["region"])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totals[region] = totals.get(region, 0.0) +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float(o["amount"])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return totals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def format_report(totals: dict[str, float]) -&gt; str: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"""Render the per-region totals and the grand total."""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lines = [f"{r}: ${totals[r]:,.2f}" for r in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sorted(totals)]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lines.append(f"TOTAL: ${sum(totals.values()):,.2f}")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return "\n".join(lines)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Read the signature first: what goes in, what comes out.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The docstring states the contract the function promises.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60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Refactor Working Code Conversationally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4 OF 7  ·  CONT. 4/4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Save the refactored version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1385316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111099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def main() -&gt; None: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print(format_report(total_by_region(filter_paid(ORDERS))))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if __name__ == "__main__":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main()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Read the signature first: what goes in, what comes out.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The docstring states the contract the function promises.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61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Refactor Working Code Conversationally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5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Prove the behaviour is unchanged by diffing against the baseline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955547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6812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uv run python sales_report.py &gt; after.txt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diff baseline.txt after.txt &amp;&amp; echo 'IDENTICAL — refactor is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safe'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Run this in your terminal, from the project folder.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uv run executes inside the project environment — no venv activation.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62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Refactor Working Code Conversationally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6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Now that the logic is in functions, test one piece in isolation — impossible before the refactor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2244851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19705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uv run python -c "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from sales_report import total_by_region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rows = [{'region': 'North', 'amount': 100.0, 'status':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'paid'},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{'region': 'North', 'amount': 50.0,  'status':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'paid'}]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assert total_by_region(rows) == {'North': 150.0}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print('unit test passed')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"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Run this in your terminal, from the project folder.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uv run executes inside the project environment — no venv activation.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The assertion is the test — it must fail before you trust it.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63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Refactor Working Code Conversationally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7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Note the sequence that makes refactoring safe: baseline first, refactor second, diff third.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64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4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Refactor Working Code Conversationally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diff reports no difference between baseline.txt and after.txt, and total_by_region can be unit-tested independently.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65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Recap — Vibe Coding Foundations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You can now: Create and run a Python project using uv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You can now: Apply prompting patterns that produce correct, reviewable code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You can now: Identify and fix defects in code produced by an AI assistant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You can now: Use an AI assistant to restructure code without changing its behaviour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66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TOPIC 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Object-Oriented Programming in Python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6052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Classes · Encapsulation · Inheritance · Composition · Dunder Methods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67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KEY CONCEPTS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Key Concepts — Object-Oriented Programming in Python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874520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 class bundles data (attributes) with the behaviour that operates on it (methods); an object is one instance of it.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874520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Encapsulation hides internal state behind methods and properties so callers depend on behaviour, not layout.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178808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Inheritance models 'is-a' and shares behaviour; composition models 'has-a' and is usually the more flexible default.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178808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Dunder methods (__init__, __repr__, __eq__) integrate your classes with Python's built-in operators and printing.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68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WHAT YOU'LL 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Hands-On Labs — Object-Oriented Programming in Python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Labs 5–6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Model a Domain with Classes and Dunder Methods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Encapsulate State with Properties and Validation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1783080"/>
            <a:ext cx="33375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0B981"/>
                </a:solidFill>
                <a:latin typeface="Arial"/>
              </a:rPr>
              <a:t>Labs 7–8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Build a Rule Hierarchy with Inheritance and Polymorphism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Compose Rules into an Engine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6676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66760" y="1783080"/>
            <a:ext cx="3337560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7C3AED"/>
                </a:solidFill>
                <a:latin typeface="Arial"/>
              </a:rPr>
              <a:t>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69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02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Model a Domain with Classes and Dunder Methods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The learner replaces loose dictionaries with a Transaction class, adds __init__, __repr__ and __eq__, and sees why a class is easier to reason about than a dict once behaviour is attached to the data.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A Transaction class with construction, printing, equality and derived properties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 &amp; libraries:  </a:t>
            </a:r>
            <a:r>
              <a:rPr sz="1300" b="0">
                <a:solidFill>
                  <a:srgbClr val="5B6372"/>
                </a:solidFill>
                <a:latin typeface="Arial"/>
              </a:rPr>
              <a:t>uv, Python 3.12, dataclasses, sqlite3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70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Model a Domain with Classes and Dunder Methods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1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Start the project and generate the database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1385316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111099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uv init cardguard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cd cardguard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uv add pandas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cp ../mockdata.py .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uv run python mockdata.py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Run this in your terminal, from the project folder.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uv resolves, installs and records the dependency in uv.lock.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uv run executes inside the project environment — no venv activation.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71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Model a Domain with Classes and Dunder Methods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2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Look at the raw shape of the data you are about to model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1815084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15407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uv run python -c "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import sqlite3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con = sqlite3.connect('cardguard.db')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row = con.execute('SELECT * FROM transactions LIMIT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1').fetchone()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print(row)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"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Run this in your terminal, from the project folder.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uv run executes inside the project environment — no venv activation.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72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Model a Domain with Classes and Dunder Methods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3 OF 7  ·  CONT. 1/3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Write the Transaction class — data and the behaviour that belongs with it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3104387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28300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7E9AB8"/>
                </a:solidFill>
                <a:latin typeface="Consolas"/>
              </a:rPr>
              <a:t># models.py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from dataclasses import dataclass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from datetime import datetime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@dataclass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class Transaction: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"""One card transaction presented for screening."""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id: int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card_ref: str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ts: datetime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amount: float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merchant_category: str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city: str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Read the signature first: what goes in, what comes out.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The docstring states the contract the function promises.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The class bundles data with the behaviour that acts on it.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A property exposes state read-only — callers cannot assign to it.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73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Model a Domain with Classes and Dunder Methods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3 OF 7  ·  CONT. 2/3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Write the Transaction class — data and the behaviour that belongs with it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3104387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28300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lat: float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lon: float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@property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def hour(self) -&gt; int: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"""Hour of day, 0-23 — used by the unusual-hour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rule."""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return self.ts.hour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@property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def is_high_risk_category(self) -&gt; bool: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return self.merchant_category in {"crypto_exchange",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"gift_cards", "jewellery"}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Read the signature first: what goes in, what comes out.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The docstring states the contract the function promises.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The class bundles data with the behaviour that acts on it.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A property exposes state read-only — callers cannot assign to it.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74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Model a Domain with Classes and Dunder Methods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3 OF 7  ·  CONT. 3/3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Write the Transaction class — data and the behaviour that belongs with it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16002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1325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def __repr__(self) -&gt; str: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return (f"Transaction(id={self.id},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card={self.card_ref}, "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      f"${self.amount:,.2f},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{self.merchant_category}, {self.city})")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Read the signature first: what goes in, what comes out.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The docstring states the contract the function promises.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The class bundles data with the behaviour that acts on it.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A property exposes state read-only — callers cannot assign to it.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75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Model a Domain with Classes and Dunder Methods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4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Add a constructor that builds a Transaction from a database row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2029967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175564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@classmethod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def from_row(cls, row: tuple) -&gt; "Transaction":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"""Build a Transaction from a sqlite row tuple."""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return cls(id=row[0], card_ref=row[1],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ts=datetime.fromisoformat(row[2]),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         amount=row[3], merchant_category=row[4],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city=row[5],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         lat=row[6], lon=row[7])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Read the signature first: what goes in, what comes out.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The docstring states the contract the function promises.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76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Model a Domain with Classes and Dunder Methods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5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Load real rows through the class and print them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267462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2400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uv run python -c "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import sqlite3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from models import Transaction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con = sqlite3.connect('cardguard.db')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rows = con.execute('SELECT * FROM transactions LIMIT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5').fetchall()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for r in rows: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t = Transaction.from_row(r)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print(t, '| hour', t.hour, '| high risk',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t.is_high_risk_category)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"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Run this in your terminal, from the project folder.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uv run executes inside the project environment — no venv activation.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77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Model a Domain with Classes and Dunder Methods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6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Verify @dataclass gave you equality for free — dicts compare by content, objects normally by identity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2459735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218541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uv run python -c "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from datetime import datetime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from models import Transaction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a = Transaction(1, 'CH0001', datetime(2026,4,1,9), 50.0,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'grocery', 'Singapore', 1.35, 103.8)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b = Transaction(1, 'CH0001', datetime(2026,4,1,9), 50.0,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'grocery', 'Singapore', 1.35, 103.8)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print('equal:', a == b)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print('same object:', a is b)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"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Run this in your terminal, from the project folder.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uv run executes inside the project environment — no venv activation.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78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Model a Domain with Classes and Dunder Methods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7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Note the gain: hour and is_high_risk_category live WITH the data. With dicts, that logic would be scattered across every caller.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79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5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Model a Domain with Classes and Dunder Methods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Transaction.from_row builds objects from the database, __repr__ prints readably, __eq__ compares by value, and the derived properties return correct results.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80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02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Encapsulate State with Properties and Validation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The learner builds a Cardholder class whose running spend baseline cannot be corrupted from outside, using private attributes, a read-only property and validation in the setter.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A Cardholder class with a protected baseline and a validated update method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 &amp; libraries:  </a:t>
            </a:r>
            <a:r>
              <a:rPr sz="1300" b="0">
                <a:solidFill>
                  <a:srgbClr val="5B6372"/>
                </a:solidFill>
                <a:latin typeface="Arial"/>
              </a:rPr>
              <a:t>uv, Python 3.12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81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Encapsulate State with Properties and Validation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1 OF 7  ·  CONT. 1/2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Write the class with state deliberately kept private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3104387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28300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7E9AB8"/>
                </a:solidFill>
                <a:latin typeface="Consolas"/>
              </a:rPr>
              <a:t># cardholder.py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class Cardholder: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"""A card account with a running spend baseline used for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anomaly scoring."""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def __init__(self, card_ref: str, name: str, home_city: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str, typical_amount: float):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if typical_amount &lt;= 0: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  raise ValueError("typical_amount must be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positive")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self.card_ref = card_ref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self.name = name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self.home_city = home_city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Read the signature first: what goes in, what comes out.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The docstring states the contract the function promises.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Invalid input fails fast and loudly, never silently.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The class bundles data with the behaviour that acts on it.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A property exposes state read-only — callers cannot assign to it.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82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Encapsulate State with Properties and Validation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1 OF 7  ·  CONT. 2/2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Write the class with state deliberately kept private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3104387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28300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self._typical_amount = typical_amount   # leading _ =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internal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self._observed_count = 0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@property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def typical_amount(self) -&gt; float: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"""Read-only view of the baseline — callers cannot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assign to it."""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return round(self._typical_amount, 2)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@property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def observed_count(self) -&gt; int: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return self._observed_count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Read the signature first: what goes in, what comes out.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The docstring states the contract the function promises.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Invalid input fails fast and loudly, never silently.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The class bundles data with the behaviour that acts on it.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A property exposes state read-only — callers cannot assign to it.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83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Encapsulate State with Properties and Validation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2 OF 7  ·  CONT. 1/2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Add the only sanctioned way to move the baseline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3104387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28300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def observe(self, amount: float) -&gt; None: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"""Fold one new transaction into the running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baseline."""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if amount &lt; 0: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  raise ValueError("amount must not be negative")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self._observed_count += 1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weight = 1 / min(self._observed_count, 30)   #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rolling, recency-weighted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self._typical_amount = (1 - weight) *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self._typical_amount + weight * amount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def deviation_factor(self, amount: float) -&gt; float: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"""How many times the baseline this amount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Read the signature first: what goes in, what comes out.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The docstring states the contract the function promises.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Invalid input fails fast and loudly, never silently.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84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Encapsulate State with Properties and Validation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2 OF 7  ·  CONT. 2/2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Add the only sanctioned way to move the baseline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740664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4663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represents."""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return round(amount / self._typical_amount, 2)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Read the signature first: what goes in, what comes out.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The docstring states the contract the function promises.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Invalid input fails fast and loudly, never silently.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85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Encapsulate State with Properties and Validation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3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Prove the baseline cannot be overwritten from outside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2029967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175564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uv run python -c "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from cardholder import Cardholder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ch = Cardholder('CH0001', 'Aisha Tan', 'Singapore', 120.0)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try: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ch.typical_amount = 999999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except AttributeError as e: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print('blocked:', e)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"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Run this in your terminal, from the project folder.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uv run executes inside the project environment — no venv activation.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try/except handles the failure; finally always cleans up.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86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Encapsulate State with Properties and Validation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4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Drive the baseline the sanctioned way and watch it move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2459735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218541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uv run python -c "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from cardholder import Cardholder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ch = Cardholder('CH0001', 'Aisha Tan', 'Singapore', 120.0)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for amt in [110, 130, 125, 118, 122]: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ch.observe(amt)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print('baseline', ch.typical_amount, 'after',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ch.observed_count, 'observations')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print('a $2,400 charge is', ch.deviation_factor(2400), 'x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baseline')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"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Run this in your terminal, from the project folder.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uv run executes inside the project environment — no venv activation.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87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Encapsulate State with Properties and Validation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5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Confirm validation rejects bad input at both entry points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2244851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19705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uv run python -c "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from cardholder import Cardholder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for bad in [lambda: Cardholder('C','n','SG',0), lambda: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Cardholder('C','n','SG',120).observe(-5)]: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try: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bad(); print('NOT CAUGHT')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except ValueError as e: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print('correctly raised:', e)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"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Run this in your terminal, from the project folder.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uv run executes inside the project environment — no venv activation.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try/except handles the failure; finally always cleans up.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88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Encapsulate State with Properties and Validation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6 OF 7  ·  CONT. 1/2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Load the real cardholders and rank them by baseline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3104387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28300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uv run python -c "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import sqlite3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from cardholder import Cardholder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con = sqlite3.connect('cardguard.db')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rows = con.execute('SELECT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card_ref,name,home_city,typical_amount FROM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cardholders').fetchall()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chs = [Cardholder(*r) for r in rows]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top = sorted(chs, key=lambda c: c.typical_amount,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reverse=True)[:5]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for c in top: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print(f'{c.card_ref} {c.name:&lt;16} baseline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5EEAD4"/>
                </a:solidFill>
                <a:latin typeface="Consolas"/>
              </a:rPr>
              <a:t>      ${c.typical_amount:,.2f}')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Run this in your terminal, from the project folder.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uv run executes inside the project environment — no venv activation.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89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Encapsulate State with Properties and Validation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6 OF 7  ·  CONT. 2/2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Load the real cardholders and rank them by baseline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5257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2514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"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Run this in your terminal, from the project folder.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uv run executes inside the project environment — no venv activation.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90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Encapsulate State with Properties and Validation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7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Note why this matters for fraud: if any caller could assign typical_amount directly, an attacker-controlled input path could raise the baseline until nothing looks anomalous.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91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6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Encapsulate State with Properties and Validation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Assigning to typical_amount raises AttributeError; observe() updates the baseline; both constructors and observe() reject invalid values; the 5 highest baselines print from the database.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92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02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Build a Rule Hierarchy with Inheritance and Polymorphism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The learner defines an abstract FraudRule base class and implements four concrete rules. Each rule scores a transaction differently but presents an identical interface, so the caller never needs to know which rule it holds.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An abstract FraudRule plus AmountDeviationRule, UnusualHourRule, HighRiskCategoryRule and VelocityRule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 &amp; libraries:  </a:t>
            </a:r>
            <a:r>
              <a:rPr sz="1300" b="0">
                <a:solidFill>
                  <a:srgbClr val="5B6372"/>
                </a:solidFill>
                <a:latin typeface="Arial"/>
              </a:rPr>
              <a:t>uv, Python 3.12, abc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93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Build a Rule Hierarchy with Inheritance and Polymorphism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1 OF 7  ·  CONT. 1/3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Define the contract every rule must satisfy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3104387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28300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7E9AB8"/>
                </a:solidFill>
                <a:latin typeface="Consolas"/>
              </a:rPr>
              <a:t># rules.py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from abc import ABC, abstractmethod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from dataclasses import dataclass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from models import Transaction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from cardholder import Cardholder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@dataclass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class RuleResult: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"""One rule's verdict on one transaction."""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rule_name: str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score: float          # 0.0 (clean) .. 1.0 (certain)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reason: str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Read the signature first: what goes in, what comes out.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The docstring states the contract the function promises.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The class bundles data with the behaviour that acts on it.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A property exposes state read-only — callers cannot assign to it.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Subclasses MUST implement this — the contract is enforced.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94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Build a Rule Hierarchy with Inheritance and Polymorphism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1 OF 7  ·  CONT. 2/3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Define the contract every rule must satisfy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3104387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28300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class FraudRule(ABC):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"""Base class: every rule scores a transaction from 0.0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to 1.0."""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weight: float = 1.0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@property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def name(self) -&gt; str: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return self.__class__.__name__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@abstractmethod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def score(self, txn: Transaction, holder: Cardholder,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    history: list[Transaction]) -&gt; RuleResult: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Read the signature first: what goes in, what comes out.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The docstring states the contract the function promises.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The class bundles data with the behaviour that acts on it.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A property exposes state read-only — callers cannot assign to it.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Subclasses MUST implement this — the contract is enforced.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95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Build a Rule Hierarchy with Inheritance and Polymorphism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1 OF 7  ·  CONT. 3/3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Define the contract every rule must satisfy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740664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4663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"""Return this rule's verdict. Must be implemented by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every subclass."""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Read the signature first: what goes in, what comes out.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The docstring states the contract the function promises.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The class bundles data with the behaviour that acts on it.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A property exposes state read-only — callers cannot assign to it.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Subclasses MUST implement this — the contract is enforced.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96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Build a Rule Hierarchy with Inheritance and Polymorphism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2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Prove the abstract class cannot be instantiated — the contract is enforced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1815084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15407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uv run python -c "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from rules import FraudRule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try: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FraudRule()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except TypeError as e: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print('correctly blocked:', e)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"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Run this in your terminal, from the project folder.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uv run executes inside the project environment — no venv activation.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try/except handles the failure; finally always cleans up.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97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Build a Rule Hierarchy with Inheritance and Polymorphism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3 OF 7  ·  CONT. 1/2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Implement the amount-deviation rule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3104387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28300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class AmountDeviationRule(FraudRule):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"""Flags spend far above this cardholder's own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baseline."""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weight = 1.2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def __init__(self, alert_factor: float = 8.0):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self.alert_factor = alert_factor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def score(self, txn, holder, history):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factor = holder.deviation_factor(txn.amount)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s = min(factor / self.alert_factor, 1.0) if factor 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1 else 0.0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return RuleResult(self.name, round(s, 3),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Read the signature first: what goes in, what comes out.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The docstring states the contract the function promises.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The class bundles data with the behaviour that acts on it.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98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Build a Rule Hierarchy with Inheritance and Polymorphism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3 OF 7  ·  CONT. 2/2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Implement the amount-deviation rule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740664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4663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                f"${txn.amount:,.2f} is {factor}x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the ${holder.typical_amount:,.2f} baseline")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Read the signature first: what goes in, what comes out.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The docstring states the contract the function promises.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The class bundles data with the behaviour that acts on it.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99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Build a Rule Hierarchy with Inheritance and Polymorphism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4 OF 7  ·  CONT. 1/2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Implement the unusual-hour and high-risk-category rules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3104387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28300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class UnusualHourRule(FraudRule):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"""Flags activity outside the cardholder's normal waking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window."""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weight = 0.6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def score(self, txn, holder, history):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s = 0.8 if txn.hour in {0, 1, 2, 3, 4, 5} else 0.0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return RuleResult(self.name, s, f"transaction at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{txn.hour:02d}:00")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class HighRiskCategoryRule(FraudRule):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"""Flags merchant categories with elevated chargeback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rates."""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Read the signature first: what goes in, what comes out.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The docstring states the contract the function promises.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The class bundles data with the behaviour that acts on it.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100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Build a Rule Hierarchy with Inheritance and Polymorphism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4 OF 7  ·  CONT. 2/2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Implement the unusual-hour and high-risk-category rules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2244851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19705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weight = 0.8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RISK = {"crypto_exchange": 0.9, "gift_cards": 0.8,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  "jewellery": 0.6, "online_gaming": 0.5}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def score(self, txn, holder, history):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s = self.RISK.get(txn.merchant_category, 0.0)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return RuleResult(self.name, s, f"category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{txn.merchant_category}")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Read the signature first: what goes in, what comes out.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The docstring states the contract the function promises.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The class bundles data with the behaviour that acts on it.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101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Build a Rule Hierarchy with Inheritance and Polymorphism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5 OF 7  ·  CONT. 1/2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Implement the velocity rule — it needs history, which the shared interface already provides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3104387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28300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from datetime import timedelta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class VelocityRule(FraudRule):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"""Flags many transactions inside a short window."""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weight = 1.5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def __init__(self, window_minutes: int = 10, threshold: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int = 4):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self.window = timedelta(minutes=window_minutes)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self.threshold = threshold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def score(self, txn, holder, history):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recent = [h for h in history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Read the signature first: what goes in, what comes out.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The docstring states the contract the function promises.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The class bundles data with the behaviour that acts on it.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102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Build a Rule Hierarchy with Inheritance and Polymorphism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5 OF 7  ·  CONT. 2/2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Implement the velocity rule — it needs history, which the shared interface already provides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2029967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175564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        if 0 &lt;= (txn.ts - h.ts).total_seconds() &lt;=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self.window.total_seconds()]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n = len(recent) + 1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s = min((n - 1) / self.threshold, 1.0) if n &gt; 1 else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0.0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return RuleResult(self.name, round(s, 3),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                f"{n} transactions in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{self.window.seconds // 60} minutes")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Read the signature first: what goes in, what comes out.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The docstring states the contract the function promises.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The class bundles data with the behaviour that acts on it.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103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Build a Rule Hierarchy with Inheritance and Polymorphism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6 OF 7  ·  CONT. 1/2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Call every rule through the SAME interface — this is polymorphism doing real work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3104387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28300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uv run python -c "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import sqlite3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from models import Transaction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from cardholder import Cardholder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from rules import AmountDeviationRule, UnusualHourRule,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HighRiskCategoryRule, VelocityRule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con = sqlite3.connect('cardguard.db')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row = con.execute('SELECT * FROM transactions WHERE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is_known_fraud=1 ORDER BY amount DESC LIMIT 1').fetchone()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txn = Transaction.from_row(row)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chr_ = con.execute('SELECT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card_ref,name,home_city,typical_amount FROM cardholders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WHERE card_ref=?', (txn.card_ref,)).fetchone()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Run this in your terminal, from the project folder.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uv run executes inside the project environment — no venv activation.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104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Build a Rule Hierarchy with Inheritance and Polymorphism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6 OF 7  ·  CONT. 2/2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Call every rule through the SAME interface — this is polymorphism doing real work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2244851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19705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holder = Cardholder(*chr_)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rules = [AmountDeviationRule(), UnusualHourRule(),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HighRiskCategoryRule(), VelocityRule()]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print(txn)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for r in rules: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res = r.score(txn, holder, [])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print(f'  {res.rule_name:&lt;24} {res.score:&gt;5}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{res.reason}')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"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Run this in your terminal, from the project folder.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uv run executes inside the project environment — no venv activation.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105</a:t>
            </a: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Build a Rule Hierarchy with Inheritance and Polymorphism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7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Note what inheritance bought: adding a fifth rule requires no change to any caller.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106</a:t>
            </a: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7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Build a Rule Hierarchy with Inheritance and Polymorphism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FraudRule cannot be instantiated; all four rules implement score() and return a RuleResult; a known-fraud transaction produces non-zero scores from the relevant rules.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107</a:t>
            </a: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02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Compose Rules into an Engine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The learner builds a RuleEngine that HAS-A list of rules rather than inheriting from any of them, producing a weighted composite score with a full explanation of every contributing rule.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A RuleEngine returning a ScreeningResult with a composite score and per-rule reasons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 &amp; libraries:  </a:t>
            </a:r>
            <a:r>
              <a:rPr sz="1300" b="0">
                <a:solidFill>
                  <a:srgbClr val="5B6372"/>
                </a:solidFill>
                <a:latin typeface="Arial"/>
              </a:rPr>
              <a:t>uv, Python 3.12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108</a:t>
            </a: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Compose Rules into an Engine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1 OF 7  ·  CONT. 1/2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Write the engine — note it inherits from nothing; it composes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3104387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28300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7E9AB8"/>
                </a:solidFill>
                <a:latin typeface="Consolas"/>
              </a:rPr>
              <a:t># engine.py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from dataclasses import dataclass, field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from models import Transaction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from cardholder import Cardholder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from rules import FraudRule, RuleResult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@dataclass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class ScreeningResult: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"""The engine's decision, with every reason that produced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it."""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txn_id: int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card_ref: str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composite_score: float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Read the signature first: what goes in, what comes out.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The docstring states the contract the function promises.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The class bundles data with the behaviour that acts on it.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109</a:t>
            </a: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Compose Rules into an Engine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1 OF 7  ·  CONT. 2/2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Write the engine — note it inherits from nothing; it composes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2889503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2615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flagged: bool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results: list[RuleResult] = field(default_factory=list)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def explain(self) -&gt; str: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head = (f"Transaction {self.txn_id}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({self.card_ref}): "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      f"score {self.composite_score} "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      f"{'FLAGGED' if self.flagged else 'clean'}")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lines = [f"    - {r.rule_name} {r.score} ::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{r.reason}"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       for r in self.results if r.score &gt; 0]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return "\n".join([head, *lines])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Read the signature first: what goes in, what comes out.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The docstring states the contract the function promises.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The class bundles data with the behaviour that acts on it.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110</a:t>
            </a: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Compose Rules into an Engine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2 OF 7  ·  CONT. 1/2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Add the engine itself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3104387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28300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class RuleEngine: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"""Composes independent rules into one weighted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decision."""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def __init__(self, rules: list[FraudRule], threshold: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float = 0.55):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if not rules: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  raise ValueError("at least one rule is required")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self.rules = rules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self.threshold = threshold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def screen(self, txn: Transaction, holder: Cardholder,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     history: list[Transaction]) -&gt; ScreeningResult: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Read the signature first: what goes in, what comes out.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The docstring states the contract the function promises.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Invalid input fails fast and loudly, never silently.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The class bundles data with the behaviour that acts on it.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111</a:t>
            </a: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Compose Rules into an Engine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2 OF 7  ·  CONT. 2/2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Add the engine itself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267462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2400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results = [r.score(txn, holder, history) for r in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self.rules]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total_weight = sum(r.weight for r in self.rules)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composite = sum(res.score * rule.weight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              for res, rule in zip(results,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self.rules)) / total_weight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composite = round(composite, 3)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return ScreeningResult(txn.id, txn.card_ref,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composite,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                     composite &gt;= self.threshold,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results)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Read the signature first: what goes in, what comes out.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The docstring states the contract the function promises.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Invalid input fails fast and loudly, never silently.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The class bundles data with the behaviour that acts on it.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112</a:t>
            </a: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Compose Rules into an Engine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3 OF 7  ·  CONT. 1/2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Screen a known-fraud transaction and read the explanation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3104387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28300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uv run python -c "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import sqlite3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from models import Transaction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from cardholder import Cardholder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from rules import AmountDeviationRule, UnusualHourRule,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HighRiskCategoryRule, VelocityRule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from engine import RuleEngine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con = sqlite3.connect('cardguard.db')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row = con.execute('SELECT * FROM transactions WHERE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is_known_fraud=1 ORDER BY amount DESC LIMIT 1').fetchone()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txn = Transaction.from_row(row)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holder = Cardholder(*con.execute('SELECT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card_ref,name,home_city,typical_amount FROM cardholders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Run this in your terminal, from the project folder.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uv run executes inside the project environment — no venv activation.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113</a:t>
            </a: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Compose Rules into an Engine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3 OF 7  ·  CONT. 2/2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Screen a known-fraud transaction and read the explanation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1385316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111099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WHERE card_ref=?',(txn.card_ref,)).fetchone())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eng = RuleEngine([AmountDeviationRule(), UnusualHourRule(),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HighRiskCategoryRule(), VelocityRule()])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print(eng.screen(txn, holder, []).explain())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"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Run this in your terminal, from the project folder.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uv run executes inside the project environment — no venv activation.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114</a:t>
            </a: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Compose Rules into an Engine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4 OF 7  ·  CONT. 1/2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Screen a normal transaction and confirm it stays clean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3104387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28300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uv run python -c "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import sqlite3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from models import Transaction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from cardholder import Cardholder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from rules import AmountDeviationRule, UnusualHourRule,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HighRiskCategoryRule, VelocityRule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from engine import RuleEngine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con = sqlite3.connect('cardguard.db')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row = con.execute("SELECT * FROM transactions WHERE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is_known_fraud=0 AND merchant_category='grocery' LIMIT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1").fetchone()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txn = Transaction.from_row(row)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holder = Cardholder(*con.execute('SELECT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Run this in your terminal, from the project folder.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uv run executes inside the project environment — no venv activation.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115</a:t>
            </a: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Compose Rules into an Engine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4 OF 7  ·  CONT. 2/2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Screen a normal transaction and confirm it stays clean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16002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1325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card_ref,name,home_city,typical_amount FROM cardholders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WHERE card_ref=?',(txn.card_ref,)).fetchone())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eng = RuleEngine([AmountDeviationRule(), UnusualHourRule(),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HighRiskCategoryRule(), VelocityRule()])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print(eng.screen(txn, holder, []).explain())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"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Run this in your terminal, from the project folder.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uv run executes inside the project environment — no venv activation.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116</a:t>
            </a: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Compose Rules into an Engine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5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Reconfigure the engine WITHOUT touching any rule class — composition in action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2029967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175564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uv run python -c "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from rules import AmountDeviationRule, HighRiskCategoryRule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from engine import RuleEngine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strict = RuleEngine([AmountDeviationRule(alert_factor=4.0),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HighRiskCategoryRule()], threshold=0.35)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print('rules:', [r.name for r in strict.rules], 'threshold:',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strict.threshold)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"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Run this in your terminal, from the project folder.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uv run executes inside the project environment — no venv activation.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117</a:t>
            </a: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Compose Rules into an Engine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6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Ask your AI assistant to add a fifth rule and confirm the engine needs no edit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1385316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111099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Ask the assistant: Add a RoundAmountRule to rules.py that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subclasses FraudRule with weight 0.4 and returns score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0.5 when the transaction amount is an exact multiple of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100, since round-number testing charges are a common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card-testing signal. Do not modify RuleEngine.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Ask your AI assistant to add a fifth rule and confirm the engine needs no edit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118</a:t>
            </a: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Compose Rules into an Engine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7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Note the design principle: inheritance shares WHAT rules are; composition decides WHICH rules run.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119</a:t>
            </a: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8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Compose Rules into an Engine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The engine flags the known-fraud transaction with a readable explanation, leaves a grocery transaction clean, and can be reconfigured with different rules and thresholds without editing any rule class.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120</a:t>
            </a: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Recap — Object-Oriented Programming in Python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You can now: Define classes that bundle data with behaviour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You can now: Protect object state behind a controlled interface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You can now: Share behaviour through a base class and override it per rule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You can now: Use composition to assemble behaviour from independent parts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121</a:t>
            </a: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TOPIC 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Data Analytics with pandas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6052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DataFrames · Cleaning · Transformation · GroupBy · Aggregation · Reporting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122</a:t>
            </a: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KEY CONCEPTS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Key Concepts — Data Analytics with pandas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874520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 DataFrame is a labelled 2-D table; a Series is one column. Most analytics is selecting, filtering and reshaping these.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874520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Real data is dirty: missing values, wrong dtypes and duplicates must be handled explicitly before analysis.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178808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split-apply-combine (groupby then aggregate) answers most business questions about a dataset.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178808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An analytics pipeline should be a set of small, testable functions — not one long script.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123</a:t>
            </a: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WHAT YOU'LL 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Hands-On Labs — Data Analytics with pandas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Labs 9–10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Load and Explore Transactions with pandas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Handle Errors with Exceptions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1783080"/>
            <a:ext cx="33375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0B981"/>
                </a:solidFill>
                <a:latin typeface="Arial"/>
              </a:rPr>
              <a:t>Labs 11–12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Build Per-Cardholder Baselines with GroupBy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Detect Velocity Bursts with Rolling Time Windows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6676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66760" y="1783080"/>
            <a:ext cx="3337560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7C3AED"/>
                </a:solidFill>
                <a:latin typeface="Arial"/>
              </a:rPr>
              <a:t>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124</a:t>
            </a: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03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Load and Explore Transactions with pandas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The learner loads the transaction table into pandas, inspects dtypes and null counts, and produces a first profile of spending — the step every analytics task starts with.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A loaded, correctly-typed transactions DataFrame plus a spend profile by category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 &amp; libraries:  </a:t>
            </a:r>
            <a:r>
              <a:rPr sz="1300" b="0">
                <a:solidFill>
                  <a:srgbClr val="5B6372"/>
                </a:solidFill>
                <a:latin typeface="Arial"/>
              </a:rPr>
              <a:t>uv, pandas 3.0, sqlite3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125</a:t>
            </a: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Load and Explore Transactions with pandas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1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Add pandas and load the table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2029967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175564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uv add pandas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uv run python -c "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import sqlite3, pandas as pd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con = sqlite3.connect('cardguard.db')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df = pd.read_sql_query('SELECT * FROM transactions', con)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print(df.shape)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print(df.head())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"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Run this in your terminal, from the project folder.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uv resolves, installs and records the dependency in uv.lock.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uv run executes inside the project environment — no venv activation.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126</a:t>
            </a: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Load and Explore Transactions with pandas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2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Inspect dtypes — note ts arrived as text, not datetime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1815084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15407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uv run python -c "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import sqlite3, pandas as pd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con = sqlite3.connect('cardguard.db')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df = pd.read_sql_query('SELECT * FROM transactions', con)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print(df.dtypes)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print(df.isna().sum())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"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Run this in your terminal, from the project folder.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uv run executes inside the project environment — no venv activation.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127</a:t>
            </a: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Load and Explore Transactions with pandas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3 OF 7  ·  CONT. 1/2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Write a loader that fixes the types once, so no downstream code has to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3104387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28300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7E9AB8"/>
                </a:solidFill>
                <a:latin typeface="Consolas"/>
              </a:rPr>
              <a:t># analytics.py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import sqlite3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import pandas as pd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def load_transactions(db_path: str = "cardguard.db") -&gt;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pd.DataFrame: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"""Load transactions with correct dtypes."""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con = sqlite3.connect(db_path)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try: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df = pd.read_sql_query("SELECT * FROM transactions",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con)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finally: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con.close()          # always closes, even if the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Read the signature first: what goes in, what comes out.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The docstring states the contract the function promises.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try/except handles the failure; finally always cleans up.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128</a:t>
            </a: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Load and Explore Transactions with pandas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3 OF 7  ·  CONT. 2/2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Write a loader that fixes the types once, so no downstream code has to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1815084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15407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query raises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df["ts"] = pd.to_datetime(df["ts"])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df["merchant_category"] =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df["merchant_category"].astype("category")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df["hour"] = df["ts"].dt.hour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df["date"] = df["ts"].dt.date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return df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Read the signature first: what goes in, what comes out.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The docstring states the contract the function promises.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try/except handles the failure; finally always cleans up.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129</a:t>
            </a: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Load and Explore Transactions with pandas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4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Profile spend by merchant category — split-apply-combine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2244851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19705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uv run python -c "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from analytics import load_transactions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df = load_transactions()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profile = (df.groupby('merchant_category',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observed=True)['amount']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   .agg(['count', 'sum', 'mean', 'max']).round(2)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   .sort_values('sum', ascending=False))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print(profile)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"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split-apply-combine: group the rows, then aggregate each group.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130</a:t>
            </a:r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Load and Explore Transactions with pandas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5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Answer a real business question: which hours carry the most spend?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2459735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218541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uv run python -c "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from analytics import load_transactions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df = load_transactions()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by_hour =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df.groupby('hour')['amount'].agg(['count','sum']).round(2)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print(by_hour.tail(8))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print('\novernight share:',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round(100*df[df.hour&lt;6]['amount'].sum()/df['amount'].sum(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),2), '%')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"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split-apply-combine: group the rows, then aggregate each group.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131</a:t>
            </a: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Load and Explore Transactions with pandas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6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See the pandas 3.0 Copy-on-Write behaviour that AI assistants get wrong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267462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2400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uv run python -c "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import pandas as pd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df = pd.DataFrame({'a':[1,2,3],'b':[10,20,30]})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7E9AB8"/>
                </a:solidFill>
                <a:latin typeface="Consolas"/>
              </a:rPr>
              <a:t># The pandas 1.x idiom an assistant will often generate: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df[df.a &gt; 1]['b'] = 0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print(df)   # unchanged under Copy-on-Write — the write went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to a temporary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7E9AB8"/>
                </a:solidFill>
                <a:latin typeface="Consolas"/>
              </a:rPr>
              <a:t># The correct form: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df.loc[df.a &gt; 1, 'b'] = 0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print(df)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"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Run this in your terminal, from the project folder.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uv run executes inside the project environment — no venv activation.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132</a:t>
            </a:r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Load and Explore Transactions with pandas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7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Note the lesson: verify generated pandas against your installed version, not against a tutorial.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133</a:t>
            </a:r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9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Load and Explore Transactions with pandas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load_transactions returns 10,851 rows with ts as datetime64; the category profile and hourly breakdown print; the learner can state why chained assignment silently fails.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134</a:t>
            </a:r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03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Handle Errors with Exceptions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The learner makes the loader robust: catching the specific failures that actually occur, defining a custom exception hierarchy for the domain, and guaranteeing cleanup with finally. A screening service that crashes on one bad row fails open — this lab prevents that.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A domain exception hierarchy plus a validated, fail-safe loader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 &amp; libraries:  </a:t>
            </a:r>
            <a:r>
              <a:rPr sz="1300" b="0">
                <a:solidFill>
                  <a:srgbClr val="5B6372"/>
                </a:solidFill>
                <a:latin typeface="Arial"/>
              </a:rPr>
              <a:t>uv, pandas, sqlite3, Python exceptions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135</a:t>
            </a:r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Handle Errors with Exceptions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1 OF 7  ·  CONT. 1/2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Define exceptions that describe the DOMAIN, not the plumbing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3104387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28300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7E9AB8"/>
                </a:solidFill>
                <a:latin typeface="Consolas"/>
              </a:rPr>
              <a:t># errors.py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class CardGuardError(Exception):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"""Base class for every CardGuard failure — callers can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catch this one type."""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class DataSourceError(CardGuardError):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"""The transaction store could not be read."""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class ValidationError(CardGuardError):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"""A transaction failed validation before scoring."""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def __init__(self, field: str, value, message: str):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self.field, self.value = field, value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super().__init__(f"{field}={value!r}: {message}")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Read the signature first: what goes in, what comes out.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The docstring states the contract the function promises.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The class bundles data with the behaviour that acts on it.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136</a:t>
            </a:r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Handle Errors with Exceptions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1 OF 7  ·  CONT. 2/2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Define exceptions that describe the DOMAIN, not the plumbing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955547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6812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class RuleExecutionError(CardGuardError):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"""A scoring rule raised while screening a transaction."""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Read the signature first: what goes in, what comes out.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The docstring states the contract the function promises.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The class bundles data with the behaviour that acts on it.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137</a:t>
            </a:r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Handle Errors with Exceptions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2 OF 7  ·  CONT. 1/3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Catch the SPECIFIC errors that happen, and translate them to domain errors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3104387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28300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7E9AB8"/>
                </a:solidFill>
                <a:latin typeface="Consolas"/>
              </a:rPr>
              <a:t># analytics.py (updated)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import sqlite3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from pathlib import Path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import pandas as pd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from errors import DataSourceError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def load_transactions(db_path: str = "cardguard.db") -&gt;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pd.DataFrame: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"""Load transactions, raising DataSourceError on any read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failure."""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if not Path(db_path).exists():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raise DataSourceError(f"database not found: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{db_path}")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Read the signature first: what goes in, what comes out.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The docstring states the contract the function promises.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Invalid input fails fast and loudly, never silently.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try/except handles the failure; finally always cleans up.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138</a:t>
            </a:r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Handle Errors with Exceptions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2 OF 7  ·  CONT. 2/3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Catch the SPECIFIC errors that happen, and translate them to domain errors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3104387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28300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con = None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try: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con = sqlite3.connect(db_path)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df = pd.read_sql_query("SELECT * FROM transactions",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con)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except sqlite3.DatabaseError as exc: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raise DataSourceError(f"could not read {db_path}: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{exc}") from exc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else: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df["ts"] = pd.to_datetime(df["ts"])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df["hour"] = df["ts"].dt.hour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return df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finally: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Read the signature first: what goes in, what comes out.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The docstring states the contract the function promises.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Invalid input fails fast and loudly, never silently.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try/except handles the failure; finally always cleans up.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139</a:t>
            </a:r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Handle Errors with Exceptions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2 OF 7  ·  CONT. 3/3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Catch the SPECIFIC errors that happen, and translate them to domain errors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740664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4663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if con is not None: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  con.close()      # runs on success AND on failure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Read the signature first: what goes in, what comes out.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The docstring states the contract the function promises.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Invalid input fails fast and loudly, never silently.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try/except handles the failure; finally always cleans up.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140</a:t>
            </a:r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Handle Errors with Exceptions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3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Prove each failure path raises the right domain error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3104387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28300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uv run python -c "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from analytics import load_transactions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from errors import DataSourceError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try: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load_transactions('no_such.db')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except DataSourceError as e: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print('missing file -&gt;', e)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open('corrupt.db','wb').write(b'not a database at all')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try: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load_transactions('corrupt.db')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except DataSourceError as e: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print('corrupt file -&gt;', type(e).__name__)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"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Run this in your terminal, from the project folder.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uv run executes inside the project environment — no venv activation.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try/except handles the failure; finally always cleans up.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141</a:t>
            </a:r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Handle Errors with Exceptions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4 OF 7  ·  CONT. 1/3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Validate a transaction and raise ValidationError carrying the offending field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3104387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28300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7E9AB8"/>
                </a:solidFill>
                <a:latin typeface="Consolas"/>
              </a:rPr>
              <a:t># validate.py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from errors import ValidationError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VALID_CATEGORIES =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{"grocery","fuel","restaurant","electronics",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"online_gaming",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"jewellery","crypto_exchange",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"gift_cards","pharmacy","transport"}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def validate_txn(record: dict) -&gt; dict: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"""Raise ValidationError on the first problem found."""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amount = record.get("amount")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Read the signature first: what goes in, what comes out.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The docstring states the contract the function promises.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Invalid input fails fast and loudly, never silently.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142</a:t>
            </a:r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Handle Errors with Exceptions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4 OF 7  ·  CONT. 2/3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Validate a transaction and raise ValidationError carrying the offending field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3104387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28300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if amount is None: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raise ValidationError("amount", amount, "is required")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if not isinstance(amount, (int, float)):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raise ValidationError("amount", amount, "must be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numeric")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if amount &lt;= 0: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raise ValidationError("amount", amount, "must be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positive")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if amount &gt; 1_000_000: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raise ValidationError("amount", amount, "exceeds the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maximum single charge")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cat = record.get("merchant_category")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if cat not in VALID_CATEGORIES: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Read the signature first: what goes in, what comes out.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The docstring states the contract the function promises.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Invalid input fails fast and loudly, never silently.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143</a:t>
            </a:r>
          </a:p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Handle Errors with Exceptions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4 OF 7  ·  CONT. 3/3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Validate a transaction and raise ValidationError carrying the offending field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955547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6812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raise ValidationError("merchant_category", cat, "is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not a known category")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return record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Read the signature first: what goes in, what comes out.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The docstring states the contract the function promises.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Invalid input fails fast and loudly, never silently.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144</a:t>
            </a:r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Handle Errors with Exceptions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5 OF 7  ·  CONT. 1/2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Run a batch where some records are bad — the batch must NOT die on the first failure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3104387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28300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uv run python -c "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from validate import validate_txn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from errors import ValidationError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batch = [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{'amount': 120.0, 'merchant_category': 'grocery'},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{'amount': -5.0,  'merchant_category': 'fuel'},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{'amount': 'abc', 'merchant_category': 'grocery'},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{'amount': 90.0,  'merchant_category': 'casino'},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{'amount': 45.0,  'merchant_category': 'transport'},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]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ok, rejected = [], []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for i, rec in enumerate(batch):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try: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Run this in your terminal, from the project folder.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uv run executes inside the project environment — no venv activation.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try/except handles the failure; finally always cleans up.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145</a:t>
            </a:r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Handle Errors with Exceptions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5 OF 7  ·  CONT. 2/2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Run a batch where some records are bad — the batch must NOT die on the first failure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1815084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15407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ok.append(validate_txn(rec))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except ValidationError as e: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rejected.append((i, str(e)))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print(f'accepted {len(ok)}, rejected {len(rejected)}')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for i, msg in rejected: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print(f'  row {i}: {msg}')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"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Run this in your terminal, from the project folder.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uv run executes inside the project environment — no venv activation.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try/except handles the failure; finally always cleans up.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146</a:t>
            </a:r>
          </a:p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Handle Errors with Exceptions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6 OF 7  ·  CONT. 1/2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Contrast with the anti-pattern — a bare except hides the bug you needed to see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3104387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28300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uv run python -c "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7E9AB8"/>
                </a:solidFill>
                <a:latin typeface="Consolas"/>
              </a:rPr>
              <a:t># ANTI-PATTERN: never do this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try: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result = 1 / 0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except:              # catches everything, including typos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and KeyboardInterrupt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result = 0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print('silently wrong:', result)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7E9AB8"/>
                </a:solidFill>
                <a:latin typeface="Consolas"/>
              </a:rPr>
              <a:t># Correct: name the exception you expect and can handle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try: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result = 1 / 0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except ZeroDivisionError as e: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Run this in your terminal, from the project folder.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uv run executes inside the project environment — no venv activation.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try/except handles the failure; finally always cleans up.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147</a:t>
            </a:r>
          </a:p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Handle Errors with Exceptions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6 OF 7  ·  CONT. 2/2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Contrast with the anti-pattern — a bare except hides the bug you needed to see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740664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4663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print('handled explicitly:', e)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"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Run this in your terminal, from the project folder.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uv run executes inside the project environment — no venv activation.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try/except handles the failure; finally always cleans up.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148</a:t>
            </a:r>
          </a:p>
        </p:txBody>
      </p:sp>
    </p:spTree>
  </p:cSld>
  <p:clrMapOvr>
    <a:masterClrMapping/>
  </p:clrMapOvr>
</p:sld>
</file>

<file path=ppt/slides/slide1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Handle Errors with Exceptions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7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Ask your assistant to add a rule-level guard so one broken rule cannot stop a screen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1385316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111099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Ask the assistant: In RuleEngine.screen, wrap each rule call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in try/except so that if one rule raises, the engine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records a RuleExecutionError message on the result and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continues scoring with the remaining rules. Never use a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bare except.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Ask your assistant to add a rule-level guard so one broken rule cannot stop a screen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149</a:t>
            </a:r>
          </a:p>
        </p:txBody>
      </p:sp>
    </p:spTree>
  </p:cSld>
  <p:clrMapOvr>
    <a:masterClrMapping/>
  </p:clrMapOvr>
</p:sld>
</file>

<file path=ppt/slides/slide1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10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Handle Errors with Exceptions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Missing and corrupt databases raise DataSourceError; the 5-record batch accepts 2 and rejects 3 with field-level messages; the learner can explain why bare except is unsafe.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150</a:t>
            </a:r>
          </a:p>
        </p:txBody>
      </p:sp>
    </p:spTree>
  </p:cSld>
  <p:clrMapOvr>
    <a:masterClrMapping/>
  </p:clrMapOvr>
</p:sld>
</file>

<file path=ppt/slides/slide1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03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Build Per-Cardholder Baselines with GroupBy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The learner computes each cardholder's own spending baseline and deviation for every transaction — the statistical foundation the AmountDeviationRule needs, done for 40 cardholders at once instead of one at a time.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A per-cardholder baseline table and a deviation column on every transaction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 &amp; libraries:  </a:t>
            </a:r>
            <a:r>
              <a:rPr sz="1300" b="0">
                <a:solidFill>
                  <a:srgbClr val="5B6372"/>
                </a:solidFill>
                <a:latin typeface="Arial"/>
              </a:rPr>
              <a:t>uv, pandas 3.0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151</a:t>
            </a:r>
          </a:p>
        </p:txBody>
      </p:sp>
    </p:spTree>
  </p:cSld>
  <p:clrMapOvr>
    <a:masterClrMapping/>
  </p:clrMapOvr>
</p:sld>
</file>

<file path=ppt/slides/slide1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Build Per-Cardholder Baselines with GroupBy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1 OF 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Compute one baseline per cardholder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2244851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19705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uv run python -c "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from analytics import load_transactions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df = load_transactions()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base =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df.groupby('card_ref')['amount'].agg(['count','mean',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'median','std']).round(2)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print(base.head())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print('cardholders:', len(base))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"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split-apply-combine: group the rows, then aggregate each group.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152</a:t>
            </a:r>
          </a:p>
        </p:txBody>
      </p:sp>
    </p:spTree>
  </p:cSld>
  <p:clrMapOvr>
    <a:masterClrMapping/>
  </p:clrMapOvr>
</p:sld>
</file>

<file path=ppt/slides/slide1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Build Per-Cardholder Baselines with GroupBy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2 OF 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Join each transaction to its cardholder baseline with transform — same shape as the original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2459735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218541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7E9AB8"/>
                </a:solidFill>
                <a:latin typeface="Consolas"/>
              </a:rPr>
              <a:t># analytics.py (add)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def add_deviation(df):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"""Attach each transaction's deviation from its own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cardholder baseline."""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df = df.copy()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df["baseline"] =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df.groupby("card_ref")["amount"].transform("median")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df["dev_factor"] = (df["amount"] /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df["baseline"]).round(2)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return df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split-apply-combine: group the rows, then aggregate each group.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153</a:t>
            </a:r>
          </a:p>
        </p:txBody>
      </p:sp>
    </p:spTree>
  </p:cSld>
  <p:clrMapOvr>
    <a:masterClrMapping/>
  </p:clrMapOvr>
</p:sld>
</file>

<file path=ppt/slides/slide1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Build Per-Cardholder Baselines with GroupBy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3 OF 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Find the biggest deviations and check them against the seeded fraud flag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2459735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218541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uv run python -c "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from analytics import load_transactions, add_deviation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df = add_deviation(load_transactions())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top = df.nlargest(10,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'dev_factor')[['id','card_ref','amount','baseline',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'dev_factor','merchant_category','is_known_fraud']]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print(top.to_string(index=False))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print('\nof the top 10 deviations,',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int(top.is_known_fraud.sum()), 'are seeded fraud')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"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Run this in your terminal, from the project folder.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uv run executes inside the project environment — no venv activation.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154</a:t>
            </a:r>
          </a:p>
        </p:txBody>
      </p:sp>
    </p:spTree>
  </p:cSld>
  <p:clrMapOvr>
    <a:masterClrMapping/>
  </p:clrMapOvr>
</p:sld>
</file>

<file path=ppt/slides/slide1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Build Per-Cardholder Baselines with GroupBy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4 OF 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Measure how well deviation alone separates fraud from normal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16002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1325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uv run python -c "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from analytics import load_transactions, add_deviation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df = add_deviation(load_transactions())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print(df.groupby('is_known_fraud')['dev_factor'].describe(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).round(2)[['count','mean','50%','max']])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"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split-apply-combine: group the rows, then aggregate each group.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155</a:t>
            </a:r>
          </a:p>
        </p:txBody>
      </p:sp>
    </p:spTree>
  </p:cSld>
  <p:clrMapOvr>
    <a:masterClrMapping/>
  </p:clrMapOvr>
</p:sld>
</file>

<file path=ppt/slides/slide1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Build Per-Cardholder Baselines with GroupBy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5 OF 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Use median not mean for the baseline — prove why with an outlier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2029967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175564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uv run python -c "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import pandas as pd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s = pd.Series([100,110,95,105,20000])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print('mean  ', round(s.mean(),2), '&lt;- dragged up by the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fraud itself')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print('median', round(s.median(),2), '&lt;- robust to the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outlier')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"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Run this in your terminal, from the project folder.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uv run executes inside the project environment — no venv activation.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156</a:t>
            </a:r>
          </a:p>
        </p:txBody>
      </p:sp>
    </p:spTree>
  </p:cSld>
  <p:clrMapOvr>
    <a:masterClrMapping/>
  </p:clrMapOvr>
</p:sld>
</file>

<file path=ppt/slides/slide1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Build Per-Cardholder Baselines with GroupBy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6 OF 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Note the analytics lesson: the statistic you choose changes what you can detect.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157</a:t>
            </a:r>
          </a:p>
        </p:txBody>
      </p:sp>
    </p:spTree>
  </p:cSld>
  <p:clrMapOvr>
    <a:masterClrMapping/>
  </p:clrMapOvr>
</p:sld>
</file>

<file path=ppt/slides/slide1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11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Build Per-Cardholder Baselines with GroupBy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Baselines compute for all 40 cardholders; dev_factor is attached to every row; the top deviations are dominated by seeded fraud; the learner can justify median over mean.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158</a:t>
            </a:r>
          </a:p>
        </p:txBody>
      </p:sp>
    </p:spTree>
  </p:cSld>
  <p:clrMapOvr>
    <a:masterClrMapping/>
  </p:clrMapOvr>
</p:sld>
</file>

<file path=ppt/slides/slide1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03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Detect Velocity Bursts with Rolling Time Windows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The learner sorts transactions per cardholder and counts how many occur inside a rolling 10-minute window — the history the VelocityRule needs, which cannot be computed one transaction at a time.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A txn_count_10min column plus the burst transactions it exposes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 &amp; libraries:  </a:t>
            </a:r>
            <a:r>
              <a:rPr sz="1300" b="0">
                <a:solidFill>
                  <a:srgbClr val="5B6372"/>
                </a:solidFill>
                <a:latin typeface="Arial"/>
              </a:rPr>
              <a:t>uv, pandas 3.0, rolling windows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159</a:t>
            </a:r>
          </a:p>
        </p:txBody>
      </p:sp>
    </p:spTree>
  </p:cSld>
  <p:clrMapOvr>
    <a:masterClrMapping/>
  </p:clrMapOvr>
</p:sld>
</file>

<file path=ppt/slides/slide1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Detect Velocity Bursts with Rolling Time Windows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1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Sort by cardholder and time — order is a precondition for any window function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267462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2400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7E9AB8"/>
                </a:solidFill>
                <a:latin typeface="Consolas"/>
              </a:rPr>
              <a:t># analytics.py (add)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def add_velocity(df, window: str = "10min"):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"""Count transactions per cardholder inside a rolling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time window."""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df = df.sort_values(["card_ref", "ts"]).copy()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counts = (df.set_index("ts")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      .groupby("card_ref")["amount"]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      .rolling(window).count()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      .reset_index(name="txn_count_10min"))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df = df.merge(counts, on=["card_ref", "ts"], how="left")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return df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split-apply-combine: group the rows, then aggregate each group.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160</a:t>
            </a:r>
          </a:p>
        </p:txBody>
      </p:sp>
    </p:spTree>
  </p:cSld>
  <p:clrMapOvr>
    <a:masterClrMapping/>
  </p:clrMapOvr>
</p:sld>
</file>

<file path=ppt/slides/slide1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Detect Velocity Bursts with Rolling Time Windows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2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Find the bursts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2244851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19705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uv run python -c "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from analytics import load_transactions, add_velocity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df = add_velocity(load_transactions())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bursts = df[df.txn_count_10min &gt;= 4]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print('burst transactions:', len(bursts))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print(bursts[['card_ref','ts','amount','merchant_category',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'txn_count_10min','is_known_fraud']].head(12).to_string(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index=False))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"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Run this in your terminal, from the project folder.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uv run executes inside the project environment — no venv activation.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161</a:t>
            </a:r>
          </a:p>
        </p:txBody>
      </p:sp>
    </p:spTree>
  </p:cSld>
  <p:clrMapOvr>
    <a:masterClrMapping/>
  </p:clrMapOvr>
</p:sld>
</file>

<file path=ppt/slides/slide1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Detect Velocity Bursts with Rolling Time Windows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3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Check the hit rate of velocity as a signal on its own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2029967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175564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uv run python -c "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from analytics import load_transactions, add_velocity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df = add_velocity(load_transactions())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b = df[df.txn_count_10min &gt;= 4]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print(f'{int(b.is_known_fraud.sum())} of {len(b)} burst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transactions are seeded fraud')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print('precision:', round(100*b.is_known_fraud.mean(),1), '%')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"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Run this in your terminal, from the project folder.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uv run executes inside the project environment — no venv activation.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162</a:t>
            </a:r>
          </a:p>
        </p:txBody>
      </p:sp>
    </p:spTree>
  </p:cSld>
  <p:clrMapOvr>
    <a:masterClrMapping/>
  </p:clrMapOvr>
</p:sld>
</file>

<file path=ppt/slides/slide1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Detect Velocity Bursts with Rolling Time Windows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4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Inspect one full burst to see the pattern a fraudster leaves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2459735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218541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uv run python -c "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from analytics import load_transactions, add_velocity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df = add_velocity(load_transactions())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card = df[df.txn_count_10min &gt;= 5].card_ref.iloc[0]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win = df[df.card_ref == card].nlargest(8,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'txn_count_10min')[['ts','amount','merchant_category',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'txn_count_10min']]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print(f'card {card}');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print(win.sort_values('ts').to_string(index=False))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"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Run this in your terminal, from the project folder.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uv run executes inside the project environment — no venv activation.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163</a:t>
            </a:r>
          </a:p>
        </p:txBody>
      </p:sp>
    </p:spTree>
  </p:cSld>
  <p:clrMapOvr>
    <a:masterClrMapping/>
  </p:clrMapOvr>
</p:sld>
</file>

<file path=ppt/slides/slide1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Detect Velocity Bursts with Rolling Time Windows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5 OF 7  ·  CONT. 1/2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Compute the geographic-impossibility signal the engine is still missing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3104387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28300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7E9AB8"/>
                </a:solidFill>
                <a:latin typeface="Consolas"/>
              </a:rPr>
              <a:t># analytics.py (add)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import numpy as np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def add_geo_velocity(df):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"""Implied travel speed (km/h) between consecutive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transactions."""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df = df.sort_values(["card_ref", "ts"]).copy()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g = df.groupby("card_ref")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lat1, lon1 = np.radians(g["lat"].shift()),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np.radians(g["lon"].shift())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lat2, lon2 = np.radians(df["lat"]), np.radians(df["lon"])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dlat, dlon = lat2 - lat1, lon2 - lon1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a = np.sin(dlat/2)**2 +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split-apply-combine: group the rows, then aggregate each group.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164</a:t>
            </a:r>
          </a:p>
        </p:txBody>
      </p:sp>
    </p:spTree>
  </p:cSld>
  <p:clrMapOvr>
    <a:masterClrMapping/>
  </p:clrMapOvr>
</p:sld>
</file>

<file path=ppt/slides/slide1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Detect Velocity Bursts with Rolling Time Windows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5 OF 7  ·  CONT. 2/2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Compute the geographic-impossibility signal the engine is still missing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16002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1325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np.cos(lat1)*np.cos(lat2)*np.sin(dlon/2)**2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km = 6371 * 2 * np.arcsin(np.sqrt(a))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hours = g["ts"].diff().dt.total_seconds() / 3600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df["implied_kmh"] = (km / hours.replace(0,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np.nan)).round(1)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return df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split-apply-combine: group the rows, then aggregate each group.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165</a:t>
            </a:r>
          </a:p>
        </p:txBody>
      </p:sp>
    </p:spTree>
  </p:cSld>
  <p:clrMapOvr>
    <a:masterClrMapping/>
  </p:clrMapOvr>
</p:sld>
</file>

<file path=ppt/slides/slide1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Detect Velocity Bursts with Rolling Time Windows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6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Find the physically impossible journeys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2029967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175564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uv run python -c "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from analytics import load_transactions, add_geo_velocity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df = add_geo_velocity(load_transactions())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imp = df[df.implied_kmh &gt; 1000]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print('impossible journeys:', len(imp))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print(imp[['card_ref','ts','city','amount','implied_kmh',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'is_known_fraud']].to_string(index=False))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"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Run this in your terminal, from the project folder.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uv run executes inside the project environment — no venv activation.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166</a:t>
            </a:r>
          </a:p>
        </p:txBody>
      </p:sp>
    </p:spTree>
  </p:cSld>
  <p:clrMapOvr>
    <a:masterClrMapping/>
  </p:clrMapOvr>
</p:sld>
</file>

<file path=ppt/slides/slide1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Detect Velocity Bursts with Rolling Time Windows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7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Note: velocity and geography are only visible ACROSS rows. Row-at-a-time scoring cannot see them.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167</a:t>
            </a:r>
          </a:p>
        </p:txBody>
      </p:sp>
    </p:spTree>
  </p:cSld>
  <p:clrMapOvr>
    <a:masterClrMapping/>
  </p:clrMapOvr>
</p:sld>
</file>

<file path=ppt/slides/slide1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12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Detect Velocity Bursts with Rolling Time Windows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Velocity bursts and impossible journeys are both detected, dominated by seeded fraud, and the learner can explain why these signals require sorted per-group windows.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168</a:t>
            </a:r>
          </a:p>
        </p:txBody>
      </p:sp>
    </p:spTree>
  </p:cSld>
  <p:clrMapOvr>
    <a:masterClrMapping/>
  </p:clrMapOvr>
</p:sld>
</file>

<file path=ppt/slides/slide1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Recap — Data Analytics with pandas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You can now: Read SQL into a DataFrame and profile it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You can now: Use try/except/else/finally and raise meaningful custom exceptions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You can now: Compute per-group statistics with split-apply-combine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You can now: Analyse ordered time-series data per group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169</a:t>
            </a:r>
          </a:p>
        </p:txBody>
      </p:sp>
    </p:spTree>
  </p:cSld>
  <p:clrMapOvr>
    <a:masterClrMapping/>
  </p:clrMapOvr>
</p:sld>
</file>

<file path=ppt/slides/slide1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TOPIC 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Data Modelling with Pydantic and FastAPI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6052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Typed Models · Validation · Endpoints · Request/Response Schemas · Auto Docs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04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170</a:t>
            </a:r>
          </a:p>
        </p:txBody>
      </p:sp>
    </p:spTree>
  </p:cSld>
  <p:clrMapOvr>
    <a:masterClrMapping/>
  </p:clrMapOvr>
</p:sld>
</file>

<file path=ppt/slides/slide1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KEY CONCEPTS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Key Concepts — Data Modelling with Pydantic and FastAPI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874520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Pydantic models declare the shape of data with Python type hints and validate it at runtime, failing fast on bad input.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874520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FastAPI turns typed Python functions into HTTP endpoints, deriving validation and OpenAPI docs from the annotations.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178808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Separate request models from response models so the API contract is explicit and safe to change.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178808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The analytics layer stays plain Python; FastAPI is a thin transport layer over it.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171</a:t>
            </a:r>
          </a:p>
        </p:txBody>
      </p:sp>
    </p:spTree>
  </p:cSld>
  <p:clrMapOvr>
    <a:masterClrMapping/>
  </p:clrMapOvr>
</p:sld>
</file>

<file path=ppt/slides/slide1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WHAT YOU'LL 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Hands-On Labs — Data Modelling with Pydantic and FastAPI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Labs 13–14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Replace Hand-Written Validation with Pydantic Models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Expose the Screening Engine as a FastAPI Endpoint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1783080"/>
            <a:ext cx="33375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0B981"/>
                </a:solidFill>
                <a:latin typeface="Arial"/>
              </a:rPr>
              <a:t>Labs 15–16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Persist Screening Decisions to SQLite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Test the API with pytest and httpx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6676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66760" y="1783080"/>
            <a:ext cx="3337560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7C3AED"/>
                </a:solidFill>
                <a:latin typeface="Arial"/>
              </a:rPr>
              <a:t>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172</a:t>
            </a:r>
          </a:p>
        </p:txBody>
      </p:sp>
    </p:spTree>
  </p:cSld>
  <p:clrMapOvr>
    <a:masterClrMapping/>
  </p:clrMapOvr>
</p:sld>
</file>

<file path=ppt/slides/slide1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04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Replace Hand-Written Validation with Pydantic Models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The learner replaces the manual validate_txn() from Topic 3 with a Pydantic model, getting type coercion, field constraints and structured error reporting for free — far less code, far better errors.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TransactionIn and ScreeningOut Pydantic models with field constraints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 &amp; libraries:  </a:t>
            </a:r>
            <a:r>
              <a:rPr sz="1300" b="0">
                <a:solidFill>
                  <a:srgbClr val="5B6372"/>
                </a:solidFill>
                <a:latin typeface="Arial"/>
              </a:rPr>
              <a:t>uv, Pydantic v2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173</a:t>
            </a:r>
          </a:p>
        </p:txBody>
      </p:sp>
    </p:spTree>
  </p:cSld>
  <p:clrMapOvr>
    <a:masterClrMapping/>
  </p:clrMapOvr>
</p:sld>
</file>

<file path=ppt/slides/slide1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Replace Hand-Written Validation with Pydantic Models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1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Add Pydantic to the project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5257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2514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uv add pydantic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Run this in your terminal, from the project folder.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uv resolves, installs and records the dependency in uv.lock.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174</a:t>
            </a:r>
          </a:p>
        </p:txBody>
      </p:sp>
    </p:spTree>
  </p:cSld>
  <p:clrMapOvr>
    <a:masterClrMapping/>
  </p:clrMapOvr>
</p:sld>
</file>

<file path=ppt/slides/slide1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Replace Hand-Written Validation with Pydantic Models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2 OF 8  ·  CONT. 1/3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Declare the model — the constraints ARE the validation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3104387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28300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7E9AB8"/>
                </a:solidFill>
                <a:latin typeface="Consolas"/>
              </a:rPr>
              <a:t># schemas.py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from datetime import datetime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from typing import Literal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from pydantic import BaseModel, Field, field_validator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CATEGORIES =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Literal["grocery","fuel","restaurant","electronics",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"online_gaming",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"jewellery","crypto_exchange",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"gift_cards","pharmacy","transport"]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class TransactionIn(BaseModel):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Pydantic validates the data at runtime from the type hints.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175</a:t>
            </a:r>
          </a:p>
        </p:txBody>
      </p:sp>
    </p:spTree>
  </p:cSld>
  <p:clrMapOvr>
    <a:masterClrMapping/>
  </p:clrMapOvr>
</p:sld>
</file>

<file path=ppt/slides/slide1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Replace Hand-Written Validation with Pydantic Models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2 OF 8  ·  CONT. 2/3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Declare the model — the constraints ARE the validation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3104387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28300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"""One transaction submitted for screening."""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card_ref: str = Field(pattern=r"^CH\d{4}$",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description="Cardholder reference")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ts: datetime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amount: float = Field(gt=0, le=1_000_000,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description="Charge amount in SGD")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merchant_category: CATEGORIES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city: str = Field(min_length=2, max_length=64)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lat: float = Field(ge=-90, le=90)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lon: float = Field(ge=-180, le=180)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@field_validator("city")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@classmethod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Pydantic validates the data at runtime from the type hints.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176</a:t>
            </a:r>
          </a:p>
        </p:txBody>
      </p:sp>
    </p:spTree>
  </p:cSld>
  <p:clrMapOvr>
    <a:masterClrMapping/>
  </p:clrMapOvr>
</p:sld>
</file>

<file path=ppt/slides/slide1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Replace Hand-Written Validation with Pydantic Models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2 OF 8  ·  CONT. 3/3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Declare the model — the constraints ARE the validation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740664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4663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def title_case_city(cls, v: str) -&gt; str: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return v.strip().title()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Pydantic validates the data at runtime from the type hints.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177</a:t>
            </a:r>
          </a:p>
        </p:txBody>
      </p:sp>
    </p:spTree>
  </p:cSld>
  <p:clrMapOvr>
    <a:masterClrMapping/>
  </p:clrMapOvr>
</p:sld>
</file>

<file path=ppt/slides/slide1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Replace Hand-Written Validation with Pydantic Models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3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Compare against Topic 3 — one model replaces the whole hand-written validator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2459735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218541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uv run python -c "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from schemas import TransactionIn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good = TransactionIn(card_ref='CH0001',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ts='2026-04-15T02:14:00', amount=4820.50,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           merchant_category='jewellery',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city='singapore', lat=1.3521, lon=103.8198)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print(good)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print('city normalised to:', good.city)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print('ts coerced to:', type(good.ts).__name__)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"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Run this in your terminal, from the project folder.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uv run executes inside the project environment — no venv activation.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178</a:t>
            </a:r>
          </a:p>
        </p:txBody>
      </p:sp>
    </p:spTree>
  </p:cSld>
  <p:clrMapOvr>
    <a:masterClrMapping/>
  </p:clrMapOvr>
</p:sld>
</file>

<file path=ppt/slides/slide1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Replace Hand-Written Validation with Pydantic Models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4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Read a validation failure — Pydantic reports EVERY problem, not just the first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2889503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2615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uv run python -c "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from pydantic import ValidationError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from schemas import TransactionIn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try: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TransactionIn(card_ref='BAD', ts='not-a-date', amount=-5,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        merchant_category='casino', city='X',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lat=999, lon=0)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except ValidationError as e: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for err in e.errors():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print(f\"  {'.'.join(str(x) for x in err['loc']):&lt;20}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{err['msg']}\")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"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Run this in your terminal, from the project folder.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uv run executes inside the project environment — no venv activation.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try/except handles the failure; finally always cleans up.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179</a:t>
            </a:r>
          </a:p>
        </p:txBody>
      </p:sp>
    </p:spTree>
  </p:cSld>
  <p:clrMapOvr>
    <a:masterClrMapping/>
  </p:clrMapOvr>
</p:sld>
</file>

<file path=ppt/slides/slide1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Replace Hand-Written Validation with Pydantic Models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5 OF 8  ·  CONT. 1/2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Define the response model separately — request and response are different contracts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3104387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28300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7E9AB8"/>
                </a:solidFill>
                <a:latin typeface="Consolas"/>
              </a:rPr>
              <a:t># schemas.py (add)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class RuleHit(BaseModel):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rule_name: str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score: float = Field(ge=0, le=1)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reason: str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class ScreeningOut(BaseModel):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"""What the screening service returns."""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card_ref: str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composite_score: float = Field(ge=0, le=1)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flagged: bool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decision: Literal["approve", "review", "decline"]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hits: list[RuleHit] = []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Pydantic validates the data at runtime from the type hints.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180</a:t>
            </a:r>
          </a:p>
        </p:txBody>
      </p:sp>
    </p:spTree>
  </p:cSld>
  <p:clrMapOvr>
    <a:masterClrMapping/>
  </p:clrMapOvr>
</p:sld>
</file>

<file path=ppt/slides/slide1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Replace Hand-Written Validation with Pydantic Models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5 OF 8  ·  CONT. 2/2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Define the response model separately — request and response are different contracts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5257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2514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errors: list[str] = []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Pydantic validates the data at runtime from the type hints.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181</a:t>
            </a:r>
          </a:p>
        </p:txBody>
      </p:sp>
    </p:spTree>
  </p:cSld>
  <p:clrMapOvr>
    <a:masterClrMapping/>
  </p:clrMapOvr>
</p:sld>
</file>

<file path=ppt/slides/slide1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Replace Hand-Written Validation with Pydantic Models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6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Serialise to JSON — the wire format comes free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2889503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2615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uv run python -c "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from schemas import ScreeningOut, RuleHit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out = ScreeningOut(card_ref='CH0023', composite_score=0.933,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flagged=True, decision='decline',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hits=[RuleHit(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rule_name='AmountDeviationRule',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score=1.0, reason='26.89x baseline'),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               RuleHit(rule_name='UnusualHourRule',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score=0.8, reason='02:00')])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print(out.model_dump_json(indent=2))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"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Run this in your terminal, from the project folder.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uv run executes inside the project environment — no venv activation.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182</a:t>
            </a:r>
          </a:p>
        </p:txBody>
      </p:sp>
    </p:spTree>
  </p:cSld>
  <p:clrMapOvr>
    <a:masterClrMapping/>
  </p:clrMapOvr>
</p:sld>
</file>

<file path=ppt/slides/slide1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Replace Hand-Written Validation with Pydantic Models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7 OF 8  ·  CONT. 1/2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Load real database rows THROUGH the model to catch any dirty data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3104387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28300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uv run python -c "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import sqlite3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from pydantic import ValidationError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from schemas import TransactionIn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con = sqlite3.connect('cardguard.db')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con.row_factory = sqlite3.Row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ok = bad = 0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for r in con.execute('SELECT * FROM transactions LIMIT 500'):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try: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TransactionIn(**{k: r[k] for k in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('card_ref','ts','amount',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'merchant_category','city','lat','lon')})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ok += 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Run this in your terminal, from the project folder.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uv run executes inside the project environment — no venv activation.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try/except handles the failure; finally always cleans up.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183</a:t>
            </a:r>
          </a:p>
        </p:txBody>
      </p:sp>
    </p:spTree>
  </p:cSld>
  <p:clrMapOvr>
    <a:masterClrMapping/>
  </p:clrMapOvr>
</p:sld>
</file>

<file path=ppt/slides/slide1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Replace Hand-Written Validation with Pydantic Models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7 OF 8  ·  CONT. 2/2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Load real database rows THROUGH the model to catch any dirty data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1170432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8961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except ValidationError: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bad += 1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print(f'validated {ok}, rejected {bad}')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"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Run this in your terminal, from the project folder.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uv run executes inside the project environment — no venv activation.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try/except handles the failure; finally always cleans up.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184</a:t>
            </a:r>
          </a:p>
        </p:txBody>
      </p:sp>
    </p:spTree>
  </p:cSld>
  <p:clrMapOvr>
    <a:masterClrMapping/>
  </p:clrMapOvr>
</p:sld>
</file>

<file path=ppt/slides/slide1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Replace Hand-Written Validation with Pydantic Models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8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Note the trade: hand-written validation is explicit but verbose; Pydantic is declarative and reports all errors at once.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185</a:t>
            </a:r>
          </a:p>
        </p:txBody>
      </p:sp>
    </p:spTree>
  </p:cSld>
  <p:clrMapOvr>
    <a:masterClrMapping/>
  </p:clrMapOvr>
</p:sld>
</file>

<file path=ppt/slides/slide1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13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Replace Hand-Written Validation with Pydantic Models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Valid input constructs and normalises; invalid input reports every field error; ScreeningOut serialises to JSON; 500 real rows validate cleanly.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186</a:t>
            </a:r>
          </a:p>
        </p:txBody>
      </p:sp>
    </p:spTree>
  </p:cSld>
  <p:clrMapOvr>
    <a:masterClrMapping/>
  </p:clrMapOvr>
</p:sld>
</file>

<file path=ppt/slides/slide1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04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Expose the Screening Engine as a FastAPI Endpoint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14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The learner wraps the Topic 2 RuleEngine in a FastAPI POST endpoint. The engine is not modified at all — FastAPI is a thin transport layer over logic that already works.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A running API with POST /screen, GET /health and automatic OpenAPI docs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 &amp; libraries:  </a:t>
            </a:r>
            <a:r>
              <a:rPr sz="1300" b="0">
                <a:solidFill>
                  <a:srgbClr val="5B6372"/>
                </a:solidFill>
                <a:latin typeface="Arial"/>
              </a:rPr>
              <a:t>uv, FastAPI, uvicorn, Pydantic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187</a:t>
            </a:r>
          </a:p>
        </p:txBody>
      </p:sp>
    </p:spTree>
  </p:cSld>
  <p:clrMapOvr>
    <a:masterClrMapping/>
  </p:clrMapOvr>
</p:sld>
</file>

<file path=ppt/slides/slide1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Expose the Screening Engine as a FastAPI Endpoint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1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Add the web dependencies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5257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2514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uv add fastapi uvicorn[standard] httpx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The test drives the API exactly as a real client would.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188</a:t>
            </a:r>
          </a:p>
        </p:txBody>
      </p:sp>
    </p:spTree>
  </p:cSld>
  <p:clrMapOvr>
    <a:masterClrMapping/>
  </p:clrMapOvr>
</p:sld>
</file>

<file path=ppt/slides/slide1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Expose the Screening Engine as a FastAPI Endpoint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2 OF 8  ·  CONT. 1/5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Write the application — note how little code the endpoint needs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3104387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28300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7E9AB8"/>
                </a:solidFill>
                <a:latin typeface="Consolas"/>
              </a:rPr>
              <a:t># main.py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import sqlite3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from fastapi import FastAPI, HTTPException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from schemas import TransactionIn, ScreeningOut, RuleHit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from models import Transaction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from cardholder import Cardholder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from rules import AmountDeviationRule, UnusualHourRule,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HighRiskCategoryRule, VelocityRule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from engine import RuleEngine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app = FastAPI(title="CardGuard Screening API",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version="1.0.0")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FastAPI turns this typed function into an HTTP endpoint.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189</a:t>
            </a:r>
          </a:p>
        </p:txBody>
      </p:sp>
    </p:spTree>
  </p:cSld>
  <p:clrMapOvr>
    <a:masterClrMapping/>
  </p:clrMapOvr>
</p:sld>
</file>

<file path=ppt/slides/slide1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Expose the Screening Engine as a FastAPI Endpoint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2 OF 8  ·  CONT. 2/5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Write the application — note how little code the endpoint needs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3104387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28300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ENGINE = RuleEngine([AmountDeviationRule(), UnusualHourRule(),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           HighRiskCategoryRule(), VelocityRule()])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def get_holder(card_ref: str) -&gt; Cardholder: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con = sqlite3.connect("cardguard.db")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try: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row = con.execute("SELECT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card_ref,name,home_city,typical_amount "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                "FROM cardholders WHERE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card_ref=?", (card_ref,)).fetchone()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finally: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con.close()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if row is None: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FastAPI turns this typed function into an HTTP endpoint.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190</a:t>
            </a:r>
          </a:p>
        </p:txBody>
      </p:sp>
    </p:spTree>
  </p:cSld>
  <p:clrMapOvr>
    <a:masterClrMapping/>
  </p:clrMapOvr>
</p:sld>
</file>

<file path=ppt/slides/slide1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Expose the Screening Engine as a FastAPI Endpoint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2 OF 8  ·  CONT. 3/5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Write the application — note how little code the endpoint needs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3104387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28300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raise HTTPException(status_code=404, detail=f"unknown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card_ref {card_ref}")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return Cardholder(*row)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def decide(score: float) -&gt; str: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if score &gt;= 0.80: return "decline"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if score &gt;= 0.55: return "review"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return "approve"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@app.get("/health")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def health() -&gt; dict: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return {"status": "ok"}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FastAPI turns this typed function into an HTTP endpoint.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191</a:t>
            </a:r>
          </a:p>
        </p:txBody>
      </p:sp>
    </p:spTree>
  </p:cSld>
  <p:clrMapOvr>
    <a:masterClrMapping/>
  </p:clrMapOvr>
</p:sld>
</file>

<file path=ppt/slides/slide1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Expose the Screening Engine as a FastAPI Endpoint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2 OF 8  ·  CONT. 4/5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Write the application — note how little code the endpoint needs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3104387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28300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@app.post("/screen", response_model=ScreeningOut)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def screen(txn_in: TransactionIn) -&gt; ScreeningOut: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"""Score one transaction and return the decision with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reasons."""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holder = get_holder(txn_in.card_ref)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txn = Transaction(id=0, card_ref=txn_in.card_ref,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ts=txn_in.ts,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            amount=txn_in.amount,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merchant_category=txn_in.merchant_category,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            city=txn_in.city, lat=txn_in.lat,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lon=txn_in.lon)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result = ENGINE.screen(txn, holder, [])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return ScreeningOut(card_ref=result.card_ref,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FastAPI turns this typed function into an HTTP endpoint.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192</a:t>
            </a:r>
          </a:p>
        </p:txBody>
      </p:sp>
    </p:spTree>
  </p:cSld>
  <p:clrMapOvr>
    <a:masterClrMapping/>
  </p:clrMapOvr>
</p:sld>
</file>

<file path=ppt/slides/slide1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Expose the Screening Engine as a FastAPI Endpoint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2 OF 8  ·  CONT. 5/5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Write the application — note how little code the endpoint needs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2459735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218541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composite_score=result.composite_score,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              flagged=result.flagged,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decision=decide(result.composite_score),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              hits=[RuleHit(rule_name=r.rule_name,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score=r.score, reason=r.reason)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                    for r in result.results if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r.score &gt; 0],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              errors=result.errors)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FastAPI turns this typed function into an HTTP endpoint.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193</a:t>
            </a:r>
          </a:p>
        </p:txBody>
      </p:sp>
    </p:spTree>
  </p:cSld>
  <p:clrMapOvr>
    <a:masterClrMapping/>
  </p:clrMapOvr>
</p:sld>
</file>

<file path=ppt/slides/slide1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Expose the Screening Engine as a FastAPI Endpoint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3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Start the server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5257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2514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uv run uvicorn main:app --reload --port 8000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Run this in your terminal, from the project folder.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uv run executes inside the project environment — no venv activation.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194</a:t>
            </a:r>
          </a:p>
        </p:txBody>
      </p:sp>
    </p:spTree>
  </p:cSld>
  <p:clrMapOvr>
    <a:masterClrMapping/>
  </p:clrMapOvr>
</p:sld>
</file>

<file path=ppt/slides/slide1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Expose the Screening Engine as a FastAPI Endpoint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4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Open the auto-generated interactive docs — you wrote no OpenAPI spec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5257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2514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open http://127.0.0.1:8000/docs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Run this in your terminal, from the project folder.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195</a:t>
            </a:r>
          </a:p>
        </p:txBody>
      </p:sp>
    </p:spTree>
  </p:cSld>
  <p:clrMapOvr>
    <a:masterClrMapping/>
  </p:clrMapOvr>
</p:sld>
</file>

<file path=ppt/slides/slide1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Expose the Screening Engine as a FastAPI Endpoint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5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Screen a clearly fraudulent transaction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16002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1325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curl -s -X POST http://127.0.0.1:8000/screen -H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"Content-Type: application/json" -d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'{"card_ref":"CH0023","ts":"2026-04-15T02:14:00",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"amount":5128.33,"merchant_category":"jewellery",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"city":"Singapore","lat":1.3521,"lon":103.8198}' |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python3 -m json.tool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Run this in your terminal, from the project folder.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196</a:t>
            </a:r>
          </a:p>
        </p:txBody>
      </p:sp>
    </p:spTree>
  </p:cSld>
  <p:clrMapOvr>
    <a:masterClrMapping/>
  </p:clrMapOvr>
</p:sld>
</file>

<file path=ppt/slides/slide1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Expose the Screening Engine as a FastAPI Endpoint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6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Screen a normal grocery run and compare the decision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16002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1325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curl -s -X POST http://127.0.0.1:8000/screen -H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"Content-Type: application/json" -d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'{"card_ref":"CH0001","ts":"2026-04-15T10:30:00",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"amount":86.40,"merchant_category":"grocery",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"city":"Singapore","lat":1.3521,"lon":103.8198}' |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python3 -m json.tool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Run this in your terminal, from the project folder.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197</a:t>
            </a:r>
          </a:p>
        </p:txBody>
      </p:sp>
    </p:spTree>
  </p:cSld>
  <p:clrMapOvr>
    <a:masterClrMapping/>
  </p:clrMapOvr>
</p:sld>
</file>

<file path=ppt/slides/slide1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Expose the Screening Engine as a FastAPI Endpoint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7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Send invalid input — FastAPI rejects it with 422 before your code runs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1385316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111099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curl -s -X POST http://127.0.0.1:8000/screen -H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"Content-Type: application/json" -d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'{"card_ref":"NOPE","ts":"2026-04-15T10:30:00",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"amount":-5,"merchant_category":"casino","city":"S",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"lat":1.35,"lon":103.8}' | python3 -m json.tool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Run this in your terminal, from the project folder.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198</a:t>
            </a:r>
          </a:p>
        </p:txBody>
      </p:sp>
    </p:spTree>
  </p:cSld>
  <p:clrMapOvr>
    <a:masterClrMapping/>
  </p:clrMapOvr>
</p:sld>
</file>

<file path=ppt/slides/slide2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Expose the Screening Engine as a FastAPI Endpoint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8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Send an unknown card and confirm the 404 path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1385316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111099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curl -s -i -X POST http://127.0.0.1:8000/screen -H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"Content-Type: application/json" -d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'{"card_ref":"CH9999","ts":"2026-04-15T10:30:00",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"amount":50,"merchant_category":"grocery",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"city":"Singapore","lat":1.35,"lon":103.8}' | head -1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Run this in your terminal, from the project folder.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199</a:t>
            </a:r>
          </a:p>
        </p:txBody>
      </p:sp>
    </p:spTree>
  </p:cSld>
  <p:clrMapOvr>
    <a:masterClrMapping/>
  </p:clrMapOvr>
</p:sld>
</file>

<file path=ppt/slides/slide2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14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Expose the Screening Engine as a FastAPI Endpoint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GET /health returns ok; the fraud transaction returns decline with reasons; the grocery transaction returns approve; bad input returns 422; an unknown card returns 404.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200</a:t>
            </a:r>
          </a:p>
        </p:txBody>
      </p:sp>
    </p:spTree>
  </p:cSld>
  <p:clrMapOvr>
    <a:masterClrMapping/>
  </p:clrMapOvr>
</p:sld>
</file>

<file path=ppt/slides/slide2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04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Persist Screening Decisions to SQLite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15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The learner adds a repository layer that records every screening decision, so the service builds an audit trail — a regulatory requirement for real fraud systems, and the data the Topic 5 dashboard reads.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A screenings table plus a repository module with save and query functions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 &amp; libraries:  </a:t>
            </a:r>
            <a:r>
              <a:rPr sz="1300" b="0">
                <a:solidFill>
                  <a:srgbClr val="5B6372"/>
                </a:solidFill>
                <a:latin typeface="Arial"/>
              </a:rPr>
              <a:t>uv, sqlite3, FastAPI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201</a:t>
            </a:r>
          </a:p>
        </p:txBody>
      </p:sp>
    </p:spTree>
  </p:cSld>
  <p:clrMapOvr>
    <a:masterClrMapping/>
  </p:clrMapOvr>
</p:sld>
</file>

<file path=ppt/slides/slide2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Persist Screening Decisions to SQLite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1 OF 7  ·  CONT. 1/3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Create the audit table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3104387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28300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7E9AB8"/>
                </a:solidFill>
                <a:latin typeface="Consolas"/>
              </a:rPr>
              <a:t># repository.py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import sqlite3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import json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from contextlib import contextmanager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from pathlib import Path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DB = "cardguard.db"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@contextmanager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def connect(db_path: str = DB):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"""Connection that always commits or rolls back, and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always closes."""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con = sqlite3.connect(db_path)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Read the signature first: what goes in, what comes out.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The docstring states the contract the function promises.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try/except handles the failure; finally always cleans up.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202</a:t>
            </a:r>
          </a:p>
        </p:txBody>
      </p:sp>
    </p:spTree>
  </p:cSld>
  <p:clrMapOvr>
    <a:masterClrMapping/>
  </p:clrMapOvr>
</p:sld>
</file>

<file path=ppt/slides/slide2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Persist Screening Decisions to SQLite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1 OF 7  ·  CONT. 2/3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Create the audit table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3104387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28300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con.row_factory = sqlite3.Row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try: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yield con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con.commit()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except Exception: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con.rollback()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raise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finally: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con.close()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def init_schema(db_path: str = DB) -&gt; None: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with connect(db_path) as con: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con.execute("""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Read the signature first: what goes in, what comes out.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The docstring states the contract the function promises.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try/except handles the failure; finally always cleans up.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203</a:t>
            </a:r>
          </a:p>
        </p:txBody>
      </p:sp>
    </p:spTree>
  </p:cSld>
  <p:clrMapOvr>
    <a:masterClrMapping/>
  </p:clrMapOvr>
</p:sld>
</file>

<file path=ppt/slides/slide2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Persist Screening Decisions to SQLite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1 OF 7  ·  CONT. 3/3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Create the audit table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3104387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28300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  CREATE TABLE IF NOT EXISTS screenings (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      id INTEGER PRIMARY KEY AUTOINCREMENT,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      card_ref TEXT NOT NULL,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      ts TEXT NOT NULL,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      amount REAL NOT NULL,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      merchant_category TEXT NOT NULL,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      composite_score REAL NOT NULL,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      decision TEXT NOT NULL,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      hits_json TEXT NOT NULL,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      screened_at TEXT NOT NULL DEFAULT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(datetime('now')))""")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con.execute("CREATE INDEX IF NOT EXISTS idx_scr_card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ON screenings(card_ref)")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Read the signature first: what goes in, what comes out.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The docstring states the contract the function promises.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try/except handles the failure; finally always cleans up.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204</a:t>
            </a:r>
          </a:p>
        </p:txBody>
      </p:sp>
    </p:spTree>
  </p:cSld>
  <p:clrMapOvr>
    <a:masterClrMapping/>
  </p:clrMapOvr>
</p:sld>
</file>

<file path=ppt/slides/slide2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Persist Screening Decisions to SQLite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2 OF 7  ·  CONT. 1/3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Add save and query functions — parameterised, never string-formatted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3104387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28300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7E9AB8"/>
                </a:solidFill>
                <a:latin typeface="Consolas"/>
              </a:rPr>
              <a:t># repository.py (add)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def save_screening(txn_in, result, db_path: str = DB) -&gt; int: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"""Record one decision; returns the new row id."""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with connect(db_path) as con: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cur = con.execute(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  "INSERT INTO screenings (card_ref, ts, amount,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merchant_category,"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  " composite_score, decision, hits_json) VALUES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(?,?,?,?,?,?,?)",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  (txn_in.card_ref, txn_in.ts.isoformat(),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txn_in.amount,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   txn_in.merchant_category,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result.composite_score, result.decision,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Read the signature first: what goes in, what comes out.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The docstring states the contract the function promises.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205</a:t>
            </a:r>
          </a:p>
        </p:txBody>
      </p:sp>
    </p:spTree>
  </p:cSld>
  <p:clrMapOvr>
    <a:masterClrMapping/>
  </p:clrMapOvr>
</p:sld>
</file>

<file path=ppt/slides/slide2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Persist Screening Decisions to SQLite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2 OF 7  ·  CONT. 2/3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Add save and query functions — parameterised, never string-formatted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3104387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28300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   json.dumps([h.model_dump() for h in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result.hits])))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return cur.lastrowid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def recent_screenings(limit: int = 20, db_path: str = DB) -&gt;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list[dict]: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with connect(db_path) as con: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rows = con.execute(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  "SELECT * FROM screenings ORDER BY id DESC LIMIT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?", (limit,)).fetchall()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return [dict(r) for r in rows]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def decision_counts(db_path: str = DB) -&gt; dict[str, int]: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Read the signature first: what goes in, what comes out.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The docstring states the contract the function promises.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206</a:t>
            </a:r>
          </a:p>
        </p:txBody>
      </p:sp>
    </p:spTree>
  </p:cSld>
  <p:clrMapOvr>
    <a:masterClrMapping/>
  </p:clrMapOvr>
</p:sld>
</file>

<file path=ppt/slides/slide2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Persist Screening Decisions to SQLite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2 OF 7  ·  CONT. 3/3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Add save and query functions — parameterised, never string-formatted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1385316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111099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with connect(db_path) as con: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rows = con.execute(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  "SELECT decision, COUNT(*) n FROM screenings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GROUP BY decision").fetchall()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return {r["decision"]: r["n"] for r in rows}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Read the signature first: what goes in, what comes out.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The docstring states the contract the function promises.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207</a:t>
            </a:r>
          </a:p>
        </p:txBody>
      </p:sp>
    </p:spTree>
  </p:cSld>
  <p:clrMapOvr>
    <a:masterClrMapping/>
  </p:clrMapOvr>
</p:sld>
</file>

<file path=ppt/slides/slide2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Persist Screening Decisions to SQLite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3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Show why parameterised queries matter — the injection an f-string would allow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2029967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175564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uv run python -c "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card = \"CH0001'; DROP TABLE screenings; --\"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print('UNSAFE would build:')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print(f\"  SELECT * FROM screenings WHERE card_ref =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'{card}'\")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print('SAFE passes the value separately: con.execute(sql,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(card,))')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"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Run this in your terminal, from the project folder.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uv run executes inside the project environment — no venv activation.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208</a:t>
            </a:r>
          </a:p>
        </p:txBody>
      </p:sp>
    </p:spTree>
  </p:cSld>
  <p:clrMapOvr>
    <a:masterClrMapping/>
  </p:clrMapOvr>
</p:sld>
</file>

<file path=ppt/slides/slide2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Persist Screening Decisions to SQLite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4 OF 7  ·  CONT. 1/2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Wire persistence into the endpoint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3104387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28300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7E9AB8"/>
                </a:solidFill>
                <a:latin typeface="Consolas"/>
              </a:rPr>
              <a:t># main.py (add)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from repository import init_schema, save_screening,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recent_screenings, decision_counts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@app.on_event("startup")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def _startup() -&gt; None: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init_schema()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7E9AB8"/>
                </a:solidFill>
                <a:latin typeface="Consolas"/>
              </a:rPr>
              <a:t># inside screen(), just before returning: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7E9AB8"/>
                </a:solidFill>
                <a:latin typeface="Consolas"/>
              </a:rPr>
              <a:t>#     save_screening(txn_in, out)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@app.get("/screenings")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def list_screenings(limit: int = 20) -&gt; list[dict]: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FastAPI turns this typed function into an HTTP endpoint.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209</a:t>
            </a:r>
          </a:p>
        </p:txBody>
      </p:sp>
    </p:spTree>
  </p:cSld>
  <p:clrMapOvr>
    <a:masterClrMapping/>
  </p:clrMapOvr>
</p:sld>
</file>

<file path=ppt/slides/slide2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Persist Screening Decisions to SQLite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4 OF 7  ·  CONT. 2/2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Wire persistence into the endpoint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1815084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15407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"""Recent decisions, newest first — the audit trail."""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return recent_screenings(limit)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@app.get("/stats")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def stats() -&gt; dict: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"""Decision counts for the dashboard."""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return decision_counts()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FastAPI turns this typed function into an HTTP endpoint.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210</a:t>
            </a:r>
          </a:p>
        </p:txBody>
      </p:sp>
    </p:spTree>
  </p:cSld>
  <p:clrMapOvr>
    <a:masterClrMapping/>
  </p:clrMapOvr>
</p:sld>
</file>

<file path=ppt/slides/slide2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Persist Screening Decisions to SQLite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5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Restart and post several transactions to build history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267462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2400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for amt in 86.40 5128.33 240.00 3900.00; do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curl -s -X POST http://127.0.0.1:8000/screen -H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"Content-Type: application/json" \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-d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"{\"card_ref\":\"CH0001\",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\"ts\":\"2026-04-15T02:30:00\",\"amount\":$amt,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\"merchant_category\":\"electronics\",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\"city\":\"Singapore\",\"lat\":1.3521,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\"lon\":103.8198}" &gt; /dev/null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done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curl -s http://127.0.0.1:8000/stats | python3 -m json.tool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Restart and post several transactions to build history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211</a:t>
            </a:r>
          </a:p>
        </p:txBody>
      </p:sp>
    </p:spTree>
  </p:cSld>
  <p:clrMapOvr>
    <a:masterClrMapping/>
  </p:clrMapOvr>
</p:sld>
</file>

<file path=ppt/slides/slide2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Persist Screening Decisions to SQLite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6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Read the audit trail back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740664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4663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curl -s 'http://127.0.0.1:8000/screenings?limit=5' | python3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-m json.tool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Run this in your terminal, from the project folder.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212</a:t>
            </a:r>
          </a:p>
        </p:txBody>
      </p:sp>
    </p:spTree>
  </p:cSld>
  <p:clrMapOvr>
    <a:masterClrMapping/>
  </p:clrMapOvr>
</p:sld>
</file>

<file path=ppt/slides/slide2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Persist Screening Decisions to SQLite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7 OF 7  ·  CONT. 1/2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Verify rollback works — a failed write must leave no partial row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3104387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28300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uv run python -c "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import repository as repo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repo.init_schema()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before = len(repo.recent_screenings(1000))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try: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with repo.connect() as con: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con.execute('INSERT INTO screenings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(card_ref,ts,amount,merchant_category,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composite_score,decision,hits_json)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VALUES (?,?,?,?,?,?,?)',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('CH0001','2026-04-15T10:00:00',50.0,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'grocery',0.1,'approve','[]'))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Run this in your terminal, from the project folder.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uv run executes inside the project environment — no venv activation.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Invalid input fails fast and loudly, never silently.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try/except handles the failure; finally always cleans up.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213</a:t>
            </a:r>
          </a:p>
        </p:txBody>
      </p:sp>
    </p:spTree>
  </p:cSld>
  <p:clrMapOvr>
    <a:masterClrMapping/>
  </p:clrMapOvr>
</p:sld>
</file>

<file path=ppt/slides/slide2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Persist Screening Decisions to SQLite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7 OF 7  ·  CONT. 2/2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Verify rollback works — a failed write must leave no partial row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1815084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15407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raise RuntimeError('simulated failure after insert')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except RuntimeError as e: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print('caught:', e)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after = len(repo.recent_screenings(1000))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print(f'rows before {before}, after {after} -&gt; rolled back: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{before == after}')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"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Run this in your terminal, from the project folder.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uv run executes inside the project environment — no venv activation.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Invalid input fails fast and loudly, never silently.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try/except handles the failure; finally always cleans up.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214</a:t>
            </a:r>
          </a:p>
        </p:txBody>
      </p:sp>
    </p:spTree>
  </p:cSld>
  <p:clrMapOvr>
    <a:masterClrMapping/>
  </p:clrMapOvr>
</p:sld>
</file>

<file path=ppt/slides/slide2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15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Persist Screening Decisions to SQLite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Screenings persist and are queryable via /screenings and /stats; the injection demo shows why parameters are used; the rollback test proves the row count is unchanged after a mid-transaction failure.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215</a:t>
            </a:r>
          </a:p>
        </p:txBody>
      </p:sp>
    </p:spTree>
  </p:cSld>
  <p:clrMapOvr>
    <a:masterClrMapping/>
  </p:clrMapOvr>
</p:sld>
</file>

<file path=ppt/slides/slide2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04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Test the API with pytest and httpx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16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The learner writes a test suite covering the happy path, validation failures and persistence — so that later refactoring and deployment changes are provably safe.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A passing pytest suite against the screening API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 &amp; libraries:  </a:t>
            </a:r>
            <a:r>
              <a:rPr sz="1300" b="0">
                <a:solidFill>
                  <a:srgbClr val="5B6372"/>
                </a:solidFill>
                <a:latin typeface="Arial"/>
              </a:rPr>
              <a:t>uv, pytest, FastAPI TestClient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216</a:t>
            </a:r>
          </a:p>
        </p:txBody>
      </p:sp>
    </p:spTree>
  </p:cSld>
  <p:clrMapOvr>
    <a:masterClrMapping/>
  </p:clrMapOvr>
</p:sld>
</file>

<file path=ppt/slides/slide2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Test the API with pytest and httpx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1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Add the test dependencies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5257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2514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uv add --dev pytest httpx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The test drives the API exactly as a real client would.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217</a:t>
            </a:r>
          </a:p>
        </p:txBody>
      </p:sp>
    </p:spTree>
  </p:cSld>
  <p:clrMapOvr>
    <a:masterClrMapping/>
  </p:clrMapOvr>
</p:sld>
</file>

<file path=ppt/slides/slide2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Test the API with pytest and httpx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2 OF 7  ·  CONT. 1/3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Write tests for the decision paths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3104387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28300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7E9AB8"/>
                </a:solidFill>
                <a:latin typeface="Consolas"/>
              </a:rPr>
              <a:t># test_api.py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import pytest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from fastapi.testclient import TestClient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from main import app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client = TestClient(app)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def post(**overrides):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body = {"card_ref": "CH0001", "ts":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"2026-04-15T10:30:00", "amount": 86.40,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  "merchant_category": "grocery", "city":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"Singapore",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  "lat": 1.3521, "lon": 103.8198}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The test drives the API exactly as a real client would.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218</a:t>
            </a:r>
          </a:p>
        </p:txBody>
      </p:sp>
    </p:spTree>
  </p:cSld>
  <p:clrMapOvr>
    <a:masterClrMapping/>
  </p:clrMapOvr>
</p:sld>
</file>

<file path=ppt/slides/slide2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Test the API with pytest and httpx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2 OF 7  ·  CONT. 2/3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Write tests for the decision paths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3104387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28300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body.update(overrides)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return client.post("/screen", json=body)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def test_health():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assert client.get("/health").json() == {"status": "ok"}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def test_normal_transaction_is_approved():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r = post()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assert r.status_code == 200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assert r.json()["decision"] == "approve"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def test_large_offhours_transaction_is_escalated():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r = post(amount=5128.33, merchant_category="jewellery",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The test drives the API exactly as a real client would.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219</a:t>
            </a:r>
          </a:p>
        </p:txBody>
      </p:sp>
    </p:spTree>
  </p:cSld>
  <p:clrMapOvr>
    <a:masterClrMapping/>
  </p:clrMapOvr>
</p:sld>
</file>

<file path=ppt/slides/slide2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Test the API with pytest and httpx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2 OF 7  ·  CONT. 3/3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Write tests for the decision paths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1385316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111099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ts="2026-04-15T02:14:00")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body = r.json()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assert body["decision"] in {"review", "decline"}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assert body["hits"], "an escalated decision must carry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its reasons"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The test drives the API exactly as a real client would.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220</a:t>
            </a:r>
          </a:p>
        </p:txBody>
      </p:sp>
    </p:spTree>
  </p:cSld>
  <p:clrMapOvr>
    <a:masterClrMapping/>
  </p:clrMapOvr>
</p:sld>
</file>

<file path=ppt/slides/slide2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Test the API with pytest and httpx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3 OF 7  ·  CONT. 1/2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Add tests for the failure paths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3104387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28300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7E9AB8"/>
                </a:solidFill>
                <a:latin typeface="Consolas"/>
              </a:rPr>
              <a:t># test_api.py (add)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@pytest.mark.parametrize("bad", [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{"amount": -5},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{"amount": 0},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{"card_ref": "NOPE"},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{"merchant_category": "casino"},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{"lat": 999},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])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def test_invalid_input_is_rejected(bad):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assert post(**bad).status_code == 422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def test_unknown_card_returns_404():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assert post(card_ref="CH9999").status_code == 404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Streamlit renders each widget top-to-bottom and re-runs the script on every interaction.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The test drives the API exactly as a real client would.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221</a:t>
            </a:r>
          </a:p>
        </p:txBody>
      </p:sp>
    </p:spTree>
  </p:cSld>
  <p:clrMapOvr>
    <a:masterClrMapping/>
  </p:clrMapOvr>
</p:sld>
</file>

<file path=ppt/slides/slide2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Test the API with pytest and httpx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3 OF 7  ·  CONT. 2/2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Add tests for the failure paths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16002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1325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def test_screening_is_persisted():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before = len(client.get("/screenings?limit=1000").json())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post()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after = len(client.get("/screenings?limit=1000").json())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assert after == before + 1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Streamlit renders each widget top-to-bottom and re-runs the script on every interaction.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The test drives the API exactly as a real client would.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222</a:t>
            </a:r>
          </a:p>
        </p:txBody>
      </p:sp>
    </p:spTree>
  </p:cSld>
  <p:clrMapOvr>
    <a:masterClrMapping/>
  </p:clrMapOvr>
</p:sld>
</file>

<file path=ppt/slides/slide2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Test the API with pytest and httpx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4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Run the suite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5257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2514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uv run pytest -v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The test drives the API exactly as a real client would.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223</a:t>
            </a:r>
          </a:p>
        </p:txBody>
      </p:sp>
    </p:spTree>
  </p:cSld>
  <p:clrMapOvr>
    <a:masterClrMapping/>
  </p:clrMapOvr>
</p:sld>
</file>

<file path=ppt/slides/slide2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Test the API with pytest and httpx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5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Check what the tests actually cover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740664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4663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uv add --dev pytest-cov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uv run pytest --cov=. --cov-report=term-missing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The test drives the API exactly as a real client would.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224</a:t>
            </a:r>
          </a:p>
        </p:txBody>
      </p:sp>
    </p:spTree>
  </p:cSld>
  <p:clrMapOvr>
    <a:masterClrMapping/>
  </p:clrMapOvr>
</p:sld>
</file>

<file path=ppt/slides/slide2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Test the API with pytest and httpx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6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Ask your assistant to write a test for a gap — then verify it FAILS first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1170432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8961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Ask the assistant: Write a pytest test asserting that POST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/screen with amount exactly 1000000 succeeds but 1000001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returns 422, matching the Field(le=1_000_000) constraint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in TransactionIn.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The test drives the API exactly as a real client would.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225</a:t>
            </a:r>
          </a:p>
        </p:txBody>
      </p:sp>
    </p:spTree>
  </p:cSld>
  <p:clrMapOvr>
    <a:masterClrMapping/>
  </p:clrMapOvr>
</p:sld>
</file>

<file path=ppt/slides/slide2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Test the API with pytest and httpx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7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Note the discipline: a test you have never seen fail is a test you cannot trust.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226</a:t>
            </a:r>
          </a:p>
        </p:txBody>
      </p:sp>
    </p:spTree>
  </p:cSld>
  <p:clrMapOvr>
    <a:masterClrMapping/>
  </p:clrMapOvr>
</p:sld>
</file>

<file path=ppt/slides/slide2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16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Test the API with pytest and httpx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All tests pass; invalid inputs are parameterised and rejected with 422; the persistence test proves a row is written per screening.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227</a:t>
            </a:r>
          </a:p>
        </p:txBody>
      </p:sp>
    </p:spTree>
  </p:cSld>
  <p:clrMapOvr>
    <a:masterClrMapping/>
  </p:clrMapOvr>
</p:sld>
</file>

<file path=ppt/slides/slide2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Recap — Data Modelling with Pydantic and FastAPI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You can now: Declare data shape with type hints and validate at runtime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You can now: Turn typed Python functions into HTTP endpoints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You can now: Write application state to a database from the API layer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You can now: Write automated tests for a FastAPI application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228</a:t>
            </a:r>
          </a:p>
        </p:txBody>
      </p:sp>
    </p:spTree>
  </p:cSld>
  <p:clrMapOvr>
    <a:masterClrMapping/>
  </p:clrMapOvr>
</p:sld>
</file>

<file path=ppt/slides/slide2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TOPIC 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Packaging and Deployment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6052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uv Lockfiles · Configuration · Containers · Deploying a Service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229</a:t>
            </a:r>
          </a:p>
        </p:txBody>
      </p:sp>
    </p:spTree>
  </p:cSld>
  <p:clrMapOvr>
    <a:masterClrMapping/>
  </p:clrMapOvr>
</p:sld>
</file>

<file path=ppt/slides/slide2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KEY CONCEPTS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Key Concepts — Packaging and Deployment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874520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uv.lock pins exact versions so the application installs identically in development and production.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874520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Configuration belongs in environment variables, never hard-coded — secrets must never be committed.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178808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 container image bundles the interpreter, dependencies and application code into one deployable artifact.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178808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 deployment is not done until the running service has been verified with a real request against a health endpoint.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230</a:t>
            </a:r>
          </a:p>
        </p:txBody>
      </p:sp>
    </p:spTree>
  </p:cSld>
  <p:clrMapOvr>
    <a:masterClrMapping/>
  </p:clrMapOvr>
</p:sld>
</file>

<file path=ppt/slides/slide2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WHAT YOU'LL 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Hands-On Labs — Packaging and Deployment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Labs 17–18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Build a Fraud Analyst Dashboard with Streamlit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Externalise Configuration and Protect Secrets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1783080"/>
            <a:ext cx="33375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0B981"/>
                </a:solidFill>
                <a:latin typeface="Arial"/>
              </a:rPr>
              <a:t>Labs 19–20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Lock Dependencies and Containerise the API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Deploy the Full Stack with Docker Compose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6676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66760" y="1783080"/>
            <a:ext cx="3337560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7C3AED"/>
                </a:solidFill>
                <a:latin typeface="Arial"/>
              </a:rPr>
              <a:t>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231</a:t>
            </a:r>
          </a:p>
        </p:txBody>
      </p:sp>
    </p:spTree>
  </p:cSld>
  <p:clrMapOvr>
    <a:masterClrMapping/>
  </p:clrMapOvr>
</p:sld>
</file>

<file path=ppt/slides/slide2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05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Build a Fraud Analyst Dashboard with Streamlit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17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The learner builds the third tier: a Streamlit dashboard a fraud analyst actually uses — review queue, screening form and trend charts — calling the FastAPI service rather than reaching into the database.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A running Streamlit dashboard with live screening, a review queue and charts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 &amp; libraries:  </a:t>
            </a:r>
            <a:r>
              <a:rPr sz="1300" b="0">
                <a:solidFill>
                  <a:srgbClr val="5B6372"/>
                </a:solidFill>
                <a:latin typeface="Arial"/>
              </a:rPr>
              <a:t>uv, Streamlit, FastAPI, httpx, pandas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232</a:t>
            </a:r>
          </a:p>
        </p:txBody>
      </p:sp>
    </p:spTree>
  </p:cSld>
  <p:clrMapOvr>
    <a:masterClrMapping/>
  </p:clrMapOvr>
</p:sld>
</file>

<file path=ppt/slides/slide2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Build a Fraud Analyst Dashboard with Streamlit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1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Add Streamlit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5257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2514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uv add streamlit httpx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Streamlit renders each widget top-to-bottom and re-runs the script on every interaction.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The test drives the API exactly as a real client would.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233</a:t>
            </a:r>
          </a:p>
        </p:txBody>
      </p:sp>
    </p:spTree>
  </p:cSld>
  <p:clrMapOvr>
    <a:masterClrMapping/>
  </p:clrMapOvr>
</p:sld>
</file>

<file path=ppt/slides/slide2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Build a Fraud Analyst Dashboard with Streamlit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2 OF 8  ·  CONT. 1/5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Build the dashboard shell and the live screening form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3104387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28300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7E9AB8"/>
                </a:solidFill>
                <a:latin typeface="Consolas"/>
              </a:rPr>
              <a:t># app.py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import httpx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import pandas as pd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import streamlit as st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API = st.secrets.get("api_url", "http://127.0.0.1:8000")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st.set_page_config(page_title="CardGuard",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page_icon="\U0001F6E1", layout="wide")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st.title("CardGuard — Fraud Screening Console")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with st.sidebar: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st.header("Screen a transaction")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Streamlit renders each widget top-to-bottom and re-runs the script on every interaction.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The test drives the API exactly as a real client would.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234</a:t>
            </a:r>
          </a:p>
        </p:txBody>
      </p:sp>
    </p:spTree>
  </p:cSld>
  <p:clrMapOvr>
    <a:masterClrMapping/>
  </p:clrMapOvr>
</p:sld>
</file>

<file path=ppt/slides/slide2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Build a Fraud Analyst Dashboard with Streamlit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2 OF 8  ·  CONT. 2/5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Build the dashboard shell and the live screening form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3104387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28300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card_ref = st.text_input("Card reference", "CH0001")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amount = st.number_input("Amount (SGD)", min_value=0.01,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value=86.40, step=10.0)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category = st.selectbox("Merchant category",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["grocery","fuel","restaurant",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"electronics","online_gaming",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"jewellery","crypto_exchange",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"gift_cards","pharmacy","transport"])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hour = st.slider("Hour of day", 0, 23, 10)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submitted = st.button("Screen", type="primary")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Streamlit renders each widget top-to-bottom and re-runs the script on every interaction.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The test drives the API exactly as a real client would.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235</a:t>
            </a:r>
          </a:p>
        </p:txBody>
      </p:sp>
    </p:spTree>
  </p:cSld>
  <p:clrMapOvr>
    <a:masterClrMapping/>
  </p:clrMapOvr>
</p:sld>
</file>

<file path=ppt/slides/slide2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Build a Fraud Analyst Dashboard with Streamlit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2 OF 8  ·  CONT. 3/5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Build the dashboard shell and the live screening form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3104387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28300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if submitted: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payload = {"card_ref": card_ref, "ts":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f"2026-04-15T{hour:02d}:30:00",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     "amount": float(amount), "merchant_category":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category,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     "city": "Singapore", "lat": 1.3521, "lon":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103.8198}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try: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r = httpx.post(f"{API}/screen", json=payload,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timeout=10)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r.raise_for_status()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out = r.json()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except httpx.HTTPStatusError as exc: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Streamlit renders each widget top-to-bottom and re-runs the script on every interaction.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The test drives the API exactly as a real client would.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236</a:t>
            </a:r>
          </a:p>
        </p:txBody>
      </p:sp>
    </p:spTree>
  </p:cSld>
  <p:clrMapOvr>
    <a:masterClrMapping/>
  </p:clrMapOvr>
</p:sld>
</file>

<file path=ppt/slides/slide2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Build a Fraud Analyst Dashboard with Streamlit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2 OF 8  ·  CONT. 4/5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Build the dashboard shell and the live screening form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3104387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28300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st.error(f"API rejected the request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({exc.response.status_code}): {exc.response.text}")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except httpx.RequestError: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st.error("Cannot reach the screening API. Is it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running on port 8000?")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else: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colour = {"approve": "green", "review": "orange",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"decline": "red"}[out["decision"]]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st.markdown(f"### Decision: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:{colour}[{out['decision'].upper()}]")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st.metric("Composite score", out["composite_score"])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if out["hits"]: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  st.dataframe(pd.DataFrame(out["hits"]),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Streamlit renders each widget top-to-bottom and re-runs the script on every interaction.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The test drives the API exactly as a real client would.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237</a:t>
            </a:r>
          </a:p>
        </p:txBody>
      </p:sp>
    </p:spTree>
  </p:cSld>
  <p:clrMapOvr>
    <a:masterClrMapping/>
  </p:clrMapOvr>
</p:sld>
</file>

<file path=ppt/slides/slide2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Build a Fraud Analyst Dashboard with Streamlit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2 OF 8  ·  CONT. 5/5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Build the dashboard shell and the live screening form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955547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6812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width="stretch")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else: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  st.info("No rule fired on this transaction.")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Streamlit renders each widget top-to-bottom and re-runs the script on every interaction.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The test drives the API exactly as a real client would.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238</a:t>
            </a:r>
          </a:p>
        </p:txBody>
      </p:sp>
    </p:spTree>
  </p:cSld>
  <p:clrMapOvr>
    <a:masterClrMapping/>
  </p:clrMapOvr>
</p:sld>
</file>

<file path=ppt/slides/slide2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Build a Fraud Analyst Dashboard with Streamlit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3 OF 8  ·  CONT. 1/3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Add the review queue and trend charts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3104387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28300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7E9AB8"/>
                </a:solidFill>
                <a:latin typeface="Consolas"/>
              </a:rPr>
              <a:t># app.py (add)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st.divider()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left, right = st.columns([2, 1])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try: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rows = httpx.get(f"{API}/screenings", params={"limit":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200}, timeout=10).json()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stats = httpx.get(f"{API}/stats", timeout=10).json()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except httpx.RequestError: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st.warning("API unavailable — showing no history.")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rows, stats = [], {}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with left: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Streamlit renders each widget top-to-bottom and re-runs the script on every interaction.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The test drives the API exactly as a real client would.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239</a:t>
            </a:r>
          </a:p>
        </p:txBody>
      </p:sp>
    </p:spTree>
  </p:cSld>
  <p:clrMapOvr>
    <a:masterClrMapping/>
  </p:clrMapOvr>
</p:sld>
</file>

<file path=ppt/slides/slide2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Build a Fraud Analyst Dashboard with Streamlit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3 OF 8  ·  CONT. 2/3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Add the review queue and trend charts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3104387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28300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st.subheader("Recent screenings")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if rows: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df = pd.DataFrame(rows)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df["screened_at"] = pd.to_datetime(df["screened_at"])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st.dataframe(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df[["card_ref","amount",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"merchant_category","composite_score",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"decision","screened_at"]],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  width="stretch", height=340)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else: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st.info("No screenings yet — submit one from the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sidebar.")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Streamlit renders each widget top-to-bottom and re-runs the script on every interaction.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The test drives the API exactly as a real client would.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240</a:t>
            </a:r>
          </a:p>
        </p:txBody>
      </p:sp>
    </p:spTree>
  </p:cSld>
  <p:clrMapOvr>
    <a:masterClrMapping/>
  </p:clrMapOvr>
</p:sld>
</file>

<file path=ppt/slides/slide2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Build a Fraud Analyst Dashboard with Streamlit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3 OF 8  ·  CONT. 3/3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Add the review queue and trend charts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2459735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218541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with right: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st.subheader("Decisions")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if stats: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st.bar_chart(pd.Series(stats, name="count"))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total = sum(stats.values())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flagged = stats.get("review", 0) +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stats.get("decline", 0)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st.metric("Flag rate", f"{100 * flagged /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  total:.1f}%" if total else "—")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Streamlit renders each widget top-to-bottom and re-runs the script on every interaction.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The test drives the API exactly as a real client would.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241</a:t>
            </a:r>
          </a:p>
        </p:txBody>
      </p:sp>
    </p:spTree>
  </p:cSld>
  <p:clrMapOvr>
    <a:masterClrMapping/>
  </p:clrMapOvr>
</p:sld>
</file>

<file path=ppt/slides/slide2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Build a Fraud Analyst Dashboard with Streamlit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4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Run both tiers — API in one terminal, UI in another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1385316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111099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7E9AB8"/>
                </a:solidFill>
                <a:latin typeface="Consolas"/>
              </a:rPr>
              <a:t># terminal 1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uv run uvicorn main:app --reload --port 8000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7E9AB8"/>
                </a:solidFill>
                <a:latin typeface="Consolas"/>
              </a:rPr>
              <a:t># terminal 2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uv run streamlit run app.py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Streamlit renders each widget top-to-bottom and re-runs the script on every interaction.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242</a:t>
            </a:r>
          </a:p>
        </p:txBody>
      </p:sp>
    </p:spTree>
  </p:cSld>
  <p:clrMapOvr>
    <a:masterClrMapping/>
  </p:clrMapOvr>
</p:sld>
</file>

<file path=ppt/slides/slide2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Build a Fraud Analyst Dashboard with Streamlit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5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Screen a normal transaction in the UI and watch it land in the queue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5257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2514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open http://localhost:8501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Run this in your terminal, from the project folder.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243</a:t>
            </a:r>
          </a:p>
        </p:txBody>
      </p:sp>
    </p:spTree>
  </p:cSld>
  <p:clrMapOvr>
    <a:masterClrMapping/>
  </p:clrMapOvr>
</p:sld>
</file>

<file path=ppt/slides/slide2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Build a Fraud Analyst Dashboard with Streamlit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6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Screen a $5,000 jewellery charge at 02:00 and confirm it turns red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244</a:t>
            </a:r>
          </a:p>
        </p:txBody>
      </p:sp>
    </p:spTree>
  </p:cSld>
  <p:clrMapOvr>
    <a:masterClrMapping/>
  </p:clrMapOvr>
</p:sld>
</file>

<file path=ppt/slides/slide2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Build a Fraud Analyst Dashboard with Streamlit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7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Stop the API and confirm the UI degrades gracefully instead of crashing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5257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2514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7E9AB8"/>
                </a:solidFill>
                <a:latin typeface="Consolas"/>
              </a:rPr>
              <a:t># stop uvicorn (Ctrl-C), then click Screen in the UI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Stop the API and confirm the UI degrades gracefully instead of crashing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245</a:t>
            </a:r>
          </a:p>
        </p:txBody>
      </p:sp>
    </p:spTree>
  </p:cSld>
  <p:clrMapOvr>
    <a:masterClrMapping/>
  </p:clrMapOvr>
</p:sld>
</file>

<file path=ppt/slides/slide2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Build a Fraud Analyst Dashboard with Streamlit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8 OF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Note the architecture: the UI never touches SQLite. Swapping the database would not change app.py at all.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246</a:t>
            </a:r>
          </a:p>
        </p:txBody>
      </p:sp>
    </p:spTree>
  </p:cSld>
  <p:clrMapOvr>
    <a:masterClrMapping/>
  </p:clrMapOvr>
</p:sld>
</file>

<file path=ppt/slides/slide2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17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Build a Fraud Analyst Dashboard with Streamlit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The dashboard screens transactions live, colour-codes decisions, lists the review queue and charts decision counts; with the API stopped it shows a clear error rather than a traceback.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247</a:t>
            </a:r>
          </a:p>
        </p:txBody>
      </p:sp>
    </p:spTree>
  </p:cSld>
  <p:clrMapOvr>
    <a:masterClrMapping/>
  </p:clrMapOvr>
</p:sld>
</file>

<file path=ppt/slides/slide2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05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Externalise Configuration and Protect Secrets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The learner replaces every hard-coded value with typed settings loaded from the environment, and ensures secrets can never be committed — the change that makes the same image runnable in dev and production.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A typed Settings object, a .env file and a .gitignore that excludes 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 &amp; libraries:  </a:t>
            </a:r>
            <a:r>
              <a:rPr sz="1300" b="0">
                <a:solidFill>
                  <a:srgbClr val="5B6372"/>
                </a:solidFill>
                <a:latin typeface="Arial"/>
              </a:rPr>
              <a:t>uv, pydantic-settings, python-dotenv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248</a:t>
            </a:r>
          </a:p>
        </p:txBody>
      </p:sp>
    </p:spTree>
  </p:cSld>
  <p:clrMapOvr>
    <a:masterClrMapping/>
  </p:clrMapOvr>
</p:sld>
</file>

<file path=ppt/slides/slide2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Externalise Configuration and Protect Secrets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1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Find every hard-coded value in the project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740664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4663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grep -rn '127.0.0.1\|8000\|cardguard.db\|0.55\|0.80'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--include='*.py' . | grep -v '.venv'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Run this in your terminal, from the project folder.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249</a:t>
            </a:r>
          </a:p>
        </p:txBody>
      </p:sp>
    </p:spTree>
  </p:cSld>
  <p:clrMapOvr>
    <a:masterClrMapping/>
  </p:clrMapOvr>
</p:sld>
</file>

<file path=ppt/slides/slide2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Externalise Configuration and Protect Secrets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2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Add typed settings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5257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2514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uv add pydantic-settings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Run this in your terminal, from the project folder.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uv resolves, installs and records the dependency in uv.lock.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250</a:t>
            </a:r>
          </a:p>
        </p:txBody>
      </p:sp>
    </p:spTree>
  </p:cSld>
  <p:clrMapOvr>
    <a:masterClrMapping/>
  </p:clrMapOvr>
</p:sld>
</file>

<file path=ppt/slides/slide2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Externalise Configuration and Protect Secrets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3 OF 9  ·  CONT. 1/2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Declare configuration as a validated model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3104387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28300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7E9AB8"/>
                </a:solidFill>
                <a:latin typeface="Consolas"/>
              </a:rPr>
              <a:t># config.py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from pydantic_settings import BaseSettings, SettingsConfigDict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class Settings(BaseSettings):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"""All runtime configuration, validated at startup."""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model_config = SettingsConfigDict(env_file=".env",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env_prefix="CARDGUARD_")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db_path: str = "cardguard.db"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api_url: str = "http://127.0.0.1:8000"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review_threshold: float = 0.55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decline_threshold: float = 0.80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velocity_window_minutes: int = 10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The docstring states the contract the function promises.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The class bundles data with the behaviour that acts on it.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251</a:t>
            </a:r>
          </a:p>
        </p:txBody>
      </p:sp>
    </p:spTree>
  </p:cSld>
  <p:clrMapOvr>
    <a:masterClrMapping/>
  </p:clrMapOvr>
</p:sld>
</file>

<file path=ppt/slides/slide2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Externalise Configuration and Protect Secrets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3 OF 9  ·  CONT. 2/2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Declare configuration as a validated model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955547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6812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log_level: str = "INFO"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settings = Settings()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The docstring states the contract the function promises.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The class bundles data with the behaviour that acts on it.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252</a:t>
            </a:r>
          </a:p>
        </p:txBody>
      </p:sp>
    </p:spTree>
  </p:cSld>
  <p:clrMapOvr>
    <a:masterClrMapping/>
  </p:clrMapOvr>
</p:sld>
</file>

<file path=ppt/slides/slide2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Externalise Configuration and Protect Secrets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4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Create .env for local development and EXCLUDE it from git immediately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1385316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111099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7E9AB8"/>
                </a:solidFill>
                <a:latin typeface="Consolas"/>
              </a:rPr>
              <a:t># .env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CARDGUARD_DB_PATH=cardguard.db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CARDGUARD_REVIEW_THRESHOLD=0.55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CARDGUARD_DECLINE_THRESHOLD=0.80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CARDGUARD_LOG_LEVEL=DEBUG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Create .env for local development and EXCLUDE it from git immediately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253</a:t>
            </a:r>
          </a:p>
        </p:txBody>
      </p:sp>
    </p:spTree>
  </p:cSld>
  <p:clrMapOvr>
    <a:masterClrMapping/>
  </p:clrMapOvr>
</p:sld>
</file>

<file path=ppt/slides/slide2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Externalise Configuration and Protect Secrets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5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Add the gitignore entries BEFORE the first commit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2029967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175564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7E9AB8"/>
                </a:solidFill>
                <a:latin typeface="Consolas"/>
              </a:rPr>
              <a:t># .gitignore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.env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.env.*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!.env.example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.venv/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__pycache__/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*.db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.pytest_cache/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The test drives the API exactly as a real client would.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254</a:t>
            </a:r>
          </a:p>
        </p:txBody>
      </p:sp>
    </p:spTree>
  </p:cSld>
  <p:clrMapOvr>
    <a:masterClrMapping/>
  </p:clrMapOvr>
</p:sld>
</file>

<file path=ppt/slides/slide2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Externalise Configuration and Protect Secrets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6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Commit a .env.example instead, so a new joiner knows what to set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1385316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111099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7E9AB8"/>
                </a:solidFill>
                <a:latin typeface="Consolas"/>
              </a:rPr>
              <a:t># .env.example — safe to commit, contains no real values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CARDGUARD_DB_PATH=cardguard.db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CARDGUARD_REVIEW_THRESHOLD=0.55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CARDGUARD_DECLINE_THRESHOLD=0.80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CARDGUARD_LOG_LEVEL=INFO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Commit a .env.example instead, so a new joiner knows what to set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255</a:t>
            </a:r>
          </a:p>
        </p:txBody>
      </p:sp>
    </p:spTree>
  </p:cSld>
  <p:clrMapOvr>
    <a:masterClrMapping/>
  </p:clrMapOvr>
</p:sld>
</file>

<file path=ppt/slides/slide2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Externalise Configuration and Protect Secrets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7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Replace the hard-coded thresholds with settings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1815084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15407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7E9AB8"/>
                </a:solidFill>
                <a:latin typeface="Consolas"/>
              </a:rPr>
              <a:t># main.py (replace decide())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from config import settings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def decide(score: float) -&gt; str: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if score &gt;= settings.decline_threshold: return "decline"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if score &gt;= settings.review_threshold:  return "review"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return "approve"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Read the signature first: what goes in, what comes out.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256</a:t>
            </a:r>
          </a:p>
        </p:txBody>
      </p:sp>
    </p:spTree>
  </p:cSld>
  <p:clrMapOvr>
    <a:masterClrMapping/>
  </p:clrMapOvr>
</p:sld>
</file>

<file path=ppt/slides/slide2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Externalise Configuration and Protect Secrets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8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Prove configuration is live — override without editing any code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2029967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175564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uv run python -c "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from config import settings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print('default review threshold:', settings.review_threshold)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"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CARDGUARD_REVIEW_THRESHOLD=0.30 uv run python -c "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from config import settings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print('overridden by environment:', settings.review_threshold)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"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Run this in your terminal, from the project folder.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uv run executes inside the project environment — no venv activation.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257</a:t>
            </a:r>
          </a:p>
        </p:txBody>
      </p:sp>
    </p:spTree>
  </p:cSld>
  <p:clrMapOvr>
    <a:masterClrMapping/>
  </p:clrMapOvr>
</p:sld>
</file>

<file path=ppt/slides/slide2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Externalise Configuration and Protect Secrets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9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Confirm .env is genuinely ignored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740664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4663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git check-ignore -v .env &amp;&amp; echo 'SAFE: .env will not be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committed'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Run this in your terminal, from the project folder.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258</a:t>
            </a:r>
          </a:p>
        </p:txBody>
      </p:sp>
    </p:spTree>
  </p:cSld>
  <p:clrMapOvr>
    <a:masterClrMapping/>
  </p:clrMapOvr>
</p:sld>
</file>

<file path=ppt/slides/slide2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18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Externalise Configuration and Protect Secrets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Settings load from .env; an environment variable overrides them without a code change; git check-ignore confirms .env is excluded; .env.example is committed in its place.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259</a:t>
            </a:r>
          </a:p>
        </p:txBody>
      </p:sp>
    </p:spTree>
  </p:cSld>
  <p:clrMapOvr>
    <a:masterClrMapping/>
  </p:clrMapOvr>
</p:sld>
</file>

<file path=ppt/slides/slide2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05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Lock Dependencies and Containerise the API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19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The learner writes a multi-stage Dockerfile that installs from uv.lock, runs as a non-root user, and produces an image that behaves identically on any machine.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A built Docker image running the screening API with a health check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 &amp; libraries:  </a:t>
            </a:r>
            <a:r>
              <a:rPr sz="1300" b="0">
                <a:solidFill>
                  <a:srgbClr val="5B6372"/>
                </a:solidFill>
                <a:latin typeface="Arial"/>
              </a:rPr>
              <a:t>uv, Docker, uvicorn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260</a:t>
            </a:r>
          </a:p>
        </p:txBody>
      </p:sp>
    </p:spTree>
  </p:cSld>
  <p:clrMapOvr>
    <a:masterClrMapping/>
  </p:clrMapOvr>
</p:sld>
</file>

<file path=ppt/slides/slide2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Lock Dependencies and Containerise the API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1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Confirm the lockfile is current and committed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740664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4663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uv lock --check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git add uv.lock pyproject.toml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Run this in your terminal, from the project folder.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261</a:t>
            </a:r>
          </a:p>
        </p:txBody>
      </p:sp>
    </p:spTree>
  </p:cSld>
  <p:clrMapOvr>
    <a:masterClrMapping/>
  </p:clrMapOvr>
</p:sld>
</file>

<file path=ppt/slides/slide2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Lock Dependencies and Containerise the API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2 OF 9  ·  CONT. 1/2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Write the Dockerfile — multi-stage keeps the final image small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3104387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28300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7E9AB8"/>
                </a:solidFill>
                <a:latin typeface="Consolas"/>
              </a:rPr>
              <a:t># Dockerfile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FROM ghcr.io/astral-sh/uv:python3.12-bookworm-slim AS builder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WORKDIR /app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ENV UV_COMPILE_BYTECODE=1 UV_LINK_MODE=copy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7E9AB8"/>
                </a:solidFill>
                <a:latin typeface="Consolas"/>
              </a:rPr>
              <a:t># Install dependencies first so this layer caches across code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changes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COPY pyproject.toml uv.lock ./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RUN uv sync --frozen --no-install-project --no-dev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COPY . .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RUN uv sync --frozen --no-dev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The image bundles interpreter, dependencies and code as one artifact.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The test drives the API exactly as a real client would.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262</a:t>
            </a:r>
          </a:p>
        </p:txBody>
      </p:sp>
    </p:spTree>
  </p:cSld>
  <p:clrMapOvr>
    <a:masterClrMapping/>
  </p:clrMapOvr>
</p:sld>
</file>

<file path=ppt/slides/slide2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Lock Dependencies and Containerise the API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2 OF 9  ·  CONT. 2/2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Write the Dockerfile — multi-stage keeps the final image small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3104387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28300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FROM python:3.12-slim-bookworm AS runtime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RUN useradd --create-home --uid 1000 appuser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WORKDIR /app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COPY --from=builder --chown=appuser:appuser /app /app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ENV PATH="/app/.venv/bin:$PATH" PYTHONUNBUFFERED=1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USER appuser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EXPOSE 8000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HEALTHCHECK --interval=30s --timeout=3s --retries=3 \\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CMD python -c "import httpx,sys; sys.exit(0 if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httpx.get(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'http://127.0.0.1:8000/health').status_code==200 else 1)"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CMD ["uvicorn", "main:app", "--host", "0.0.0.0", "--port",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"8000"]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The image bundles interpreter, dependencies and code as one artifact.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The test drives the API exactly as a real client would.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263</a:t>
            </a:r>
          </a:p>
        </p:txBody>
      </p:sp>
    </p:spTree>
  </p:cSld>
  <p:clrMapOvr>
    <a:masterClrMapping/>
  </p:clrMapOvr>
</p:sld>
</file>

<file path=ppt/slides/slide2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Lock Dependencies and Containerise the API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3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Exclude everything the image does not need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2244851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19705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7E9AB8"/>
                </a:solidFill>
                <a:latin typeface="Consolas"/>
              </a:rPr>
              <a:t># .dockerignore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.venv/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.git/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.env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*.db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__pycache__/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.pytest_cache/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tests/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*.md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The image bundles interpreter, dependencies and code as one artifact.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The test drives the API exactly as a real client would.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264</a:t>
            </a:r>
          </a:p>
        </p:txBody>
      </p:sp>
    </p:spTree>
  </p:cSld>
  <p:clrMapOvr>
    <a:masterClrMapping/>
  </p:clrMapOvr>
</p:sld>
</file>

<file path=ppt/slides/slide2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Lock Dependencies and Containerise the API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4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Build the image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5257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2514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docker build -t cardguard-api:1.0 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The image bundles interpreter, dependencies and code as one artifact.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265</a:t>
            </a:r>
          </a:p>
        </p:txBody>
      </p:sp>
    </p:spTree>
  </p:cSld>
  <p:clrMapOvr>
    <a:masterClrMapping/>
  </p:clrMapOvr>
</p:sld>
</file>

<file path=ppt/slides/slide2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Lock Dependencies and Containerise the API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5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Check the size — multi-stage should keep it well under 300MB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5257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2514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docker images cardguard-api:1.0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The image bundles interpreter, dependencies and code as one artifact.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266</a:t>
            </a:r>
          </a:p>
        </p:txBody>
      </p:sp>
    </p:spTree>
  </p:cSld>
  <p:clrMapOvr>
    <a:masterClrMapping/>
  </p:clrMapOvr>
</p:sld>
</file>

<file path=ppt/slides/slide2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Lock Dependencies and Containerise the API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6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Run it, passing configuration as environment variables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16002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1325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docker run -d --name cardguard \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-p 8000:8000 \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-e CARDGUARD_REVIEW_THRESHOLD=0.55 \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-e CARDGUARD_LOG_LEVEL=INFO \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-v "$(pwd)/cardguard.db:/app/cardguard.db" \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cardguard-api:1.0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The image bundles interpreter, dependencies and code as one artifact.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267</a:t>
            </a:r>
          </a:p>
        </p:txBody>
      </p:sp>
    </p:spTree>
  </p:cSld>
  <p:clrMapOvr>
    <a:masterClrMapping/>
  </p:clrMapOvr>
</p:sld>
</file>

<file path=ppt/slides/slide2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Lock Dependencies and Containerise the API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7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Verify the container is healthy and answering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955547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6812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docker ps --filter name=cardguard --format 'table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{{.Names}}\t{{.Status}}'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curl -s http://127.0.0.1:8000/health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The image bundles interpreter, dependencies and code as one artifact.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268</a:t>
            </a:r>
          </a:p>
        </p:txBody>
      </p:sp>
    </p:spTree>
  </p:cSld>
  <p:clrMapOvr>
    <a:masterClrMapping/>
  </p:clrMapOvr>
</p:sld>
</file>

<file path=ppt/slides/slide2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Lock Dependencies and Containerise the API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8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Screen a transaction against the CONTAINER, not your laptop's Python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16002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1325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curl -s -X POST http://127.0.0.1:8000/screen -H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"Content-Type: application/json" -d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'{"card_ref":"CH0023","ts":"2026-04-15T02:14:00",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"amount":5128.33,"merchant_category":"jewellery",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"city":"Singapore","lat":1.3521,"lon":103.8198}' |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python3 -m json.tool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Run this in your terminal, from the project folder.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269</a:t>
            </a:r>
          </a:p>
        </p:txBody>
      </p:sp>
    </p:spTree>
  </p:cSld>
  <p:clrMapOvr>
    <a:masterClrMapping/>
  </p:clrMapOvr>
</p:sld>
</file>

<file path=ppt/slides/slide2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Lock Dependencies and Containerise the API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9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Read the logs and confirm it runs as a non-root user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740664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4663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docker logs cardguard --tail 20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docker exec cardguard whoami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The image bundles interpreter, dependencies and code as one artifact.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270</a:t>
            </a:r>
          </a:p>
        </p:txBody>
      </p:sp>
    </p:spTree>
  </p:cSld>
  <p:clrMapOvr>
    <a:masterClrMapping/>
  </p:clrMapOvr>
</p:sld>
</file>

<file path=ppt/slides/slide2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19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Lock Dependencies and Containerise the API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The image builds, runs as appuser, reports healthy, and returns a decline decision for the fraud transaction posted to the container.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271</a:t>
            </a:r>
          </a:p>
        </p:txBody>
      </p:sp>
    </p:spTree>
  </p:cSld>
  <p:clrMapOvr>
    <a:masterClrMapping/>
  </p:clrMapOvr>
</p:sld>
</file>

<file path=ppt/slides/slide2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05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Deploy the Full Stack with Docker Compose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20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The learner composes the API and the Streamlit UI into one stack with a shared volume and dependency ordering, then verifies the deployment end to end — the final integration of everything built in Topics 1-5.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A running two-service stack verified with a real screening through the UI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 &amp; libraries:  </a:t>
            </a:r>
            <a:r>
              <a:rPr sz="1300" b="0">
                <a:solidFill>
                  <a:srgbClr val="5B6372"/>
                </a:solidFill>
                <a:latin typeface="Arial"/>
              </a:rPr>
              <a:t>Docker Compose, FastAPI, Streamlit, SQLite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272</a:t>
            </a:r>
          </a:p>
        </p:txBody>
      </p:sp>
    </p:spTree>
  </p:cSld>
  <p:clrMapOvr>
    <a:masterClrMapping/>
  </p:clrMapOvr>
</p:sld>
</file>

<file path=ppt/slides/slide2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Deploy the Full Stack with Docker Compose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1 OF 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Write a Dockerfile for the UI tier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267462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2400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7E9AB8"/>
                </a:solidFill>
                <a:latin typeface="Consolas"/>
              </a:rPr>
              <a:t># Dockerfile.ui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FROM ghcr.io/astral-sh/uv:python3.12-bookworm-slim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WORKDIR /app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ENV UV_COMPILE_BYTECODE=1 UV_LINK_MODE=copy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COPY pyproject.toml uv.lock ./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RUN uv sync --frozen --no-dev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COPY . .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ENV PATH="/app/.venv/bin:$PATH"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EXPOSE 8501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CMD ["streamlit", "run", "app.py",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"--server.address=0.0.0.0", "--server.port=8501"]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The image bundles interpreter, dependencies and code as one artifact.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Streamlit renders each widget top-to-bottom and re-runs the script on every interaction.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273</a:t>
            </a:r>
          </a:p>
        </p:txBody>
      </p:sp>
    </p:spTree>
  </p:cSld>
  <p:clrMapOvr>
    <a:masterClrMapping/>
  </p:clrMapOvr>
</p:sld>
</file>

<file path=ppt/slides/slide2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Deploy the Full Stack with Docker Compose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2 OF 10  ·  CONT. 1/3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Compose the stack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3104387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28300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7E9AB8"/>
                </a:solidFill>
                <a:latin typeface="Consolas"/>
              </a:rPr>
              <a:t># compose.yaml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services: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api: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build: .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ports: ["8000:8000"]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environment: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CARDGUARD_DB_PATH: /data/cardguard.db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CARDGUARD_REVIEW_THRESHOLD: "0.55"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CARDGUARD_DECLINE_THRESHOLD: "0.80"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volumes: ["cardguard-data:/data"]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healthcheck: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test: ["CMD", "python", "-c", "import httpx,sys;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sys.exit(0 if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The image bundles interpreter, dependencies and code as one artifact.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The test drives the API exactly as a real client would.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274</a:t>
            </a:r>
          </a:p>
        </p:txBody>
      </p:sp>
    </p:spTree>
  </p:cSld>
  <p:clrMapOvr>
    <a:masterClrMapping/>
  </p:clrMapOvr>
</p:sld>
</file>

<file path=ppt/slides/slide2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Deploy the Full Stack with Docker Compose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2 OF 10  ·  CONT. 2/3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Compose the stack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3104387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28300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httpx.get(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'http://127.0.0.1:8000/health').status_code==2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00 else 1)"]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interval: 10s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timeout: 3s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retries: 5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ui: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build: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context: .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dockerfile: Dockerfile.ui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ports: ["8501:8501"]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environment: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The image bundles interpreter, dependencies and code as one artifact.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The test drives the API exactly as a real client would.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275</a:t>
            </a:r>
          </a:p>
        </p:txBody>
      </p:sp>
    </p:spTree>
  </p:cSld>
  <p:clrMapOvr>
    <a:masterClrMapping/>
  </p:clrMapOvr>
</p:sld>
</file>

<file path=ppt/slides/slide2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Deploy the Full Stack with Docker Compose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2 OF 10  ·  CONT. 3/3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Compose the stack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1815084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15407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CARDGUARD_API_URL: http://api:8000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depends_on: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api: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      condition: service_healthy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volumes: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  cardguard-data: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The image bundles interpreter, dependencies and code as one artifact.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The test drives the API exactly as a real client would.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276</a:t>
            </a:r>
          </a:p>
        </p:txBody>
      </p:sp>
    </p:spTree>
  </p:cSld>
  <p:clrMapOvr>
    <a:masterClrMapping/>
  </p:clrMapOvr>
</p:sld>
</file>

<file path=ppt/slides/slide2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Deploy the Full Stack with Docker Compose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3 OF 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Point the UI at the service name — inside the network it is not localhost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955547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6812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7E9AB8"/>
                </a:solidFill>
                <a:latin typeface="Consolas"/>
              </a:rPr>
              <a:t># app.py (replace the API constant)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import os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API = os.getenv("CARDGUARD_API_URL", "http://127.0.0.1:8000")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Point the UI at the service name — inside the network it is not localhost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277</a:t>
            </a:r>
          </a:p>
        </p:txBody>
      </p:sp>
    </p:spTree>
  </p:cSld>
  <p:clrMapOvr>
    <a:masterClrMapping/>
  </p:clrMapOvr>
</p:sld>
</file>

<file path=ppt/slides/slide2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Deploy the Full Stack with Docker Compose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4 OF 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Bring the stack up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5257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2514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docker compose up --build -d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The image bundles interpreter, dependencies and code as one artifact.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278</a:t>
            </a:r>
          </a:p>
        </p:txBody>
      </p:sp>
    </p:spTree>
  </p:cSld>
  <p:clrMapOvr>
    <a:masterClrMapping/>
  </p:clrMapOvr>
</p:sld>
</file>

<file path=ppt/slides/slide2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Deploy the Full Stack with Docker Compose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5 OF 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Confirm the UI waited for the API to become healthy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740664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4663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docker compose ps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docker compose logs api --tail 5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The image bundles interpreter, dependencies and code as one artifact.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279</a:t>
            </a:r>
          </a:p>
        </p:txBody>
      </p:sp>
    </p:spTree>
  </p:cSld>
  <p:clrMapOvr>
    <a:masterClrMapping/>
  </p:clrMapOvr>
</p:sld>
</file>

<file path=ppt/slides/slide2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Deploy the Full Stack with Docker Compose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6 OF 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Seed the database inside the running container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740664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4663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docker compose exec api python mockdata.py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docker compose exec api ls -la /data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The image bundles interpreter, dependencies and code as one artifact.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280</a:t>
            </a:r>
          </a:p>
        </p:txBody>
      </p:sp>
    </p:spTree>
  </p:cSld>
  <p:clrMapOvr>
    <a:masterClrMapping/>
  </p:clrMapOvr>
</p:sld>
</file>

<file path=ppt/slides/slide2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Deploy the Full Stack with Docker Compose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7 OF 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Verify end to end through the browser — screen a fraudulent charge in the UI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5257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2514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open http://localhost:8501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Run this in your terminal, from the project folder.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281</a:t>
            </a:r>
          </a:p>
        </p:txBody>
      </p:sp>
    </p:spTree>
  </p:cSld>
  <p:clrMapOvr>
    <a:masterClrMapping/>
  </p:clrMapOvr>
</p:sld>
</file>

<file path=ppt/slides/slide2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Deploy the Full Stack with Docker Compose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8 OF 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Verify the API tier independently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740664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4663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curl -s http://127.0.0.1:8000/health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curl -s http://127.0.0.1:8000/stats | python3 -m json.tool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Run this in your terminal, from the project folder.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282</a:t>
            </a:r>
          </a:p>
        </p:txBody>
      </p:sp>
    </p:spTree>
  </p:cSld>
  <p:clrMapOvr>
    <a:masterClrMapping/>
  </p:clrMapOvr>
</p:sld>
</file>

<file path=ppt/slides/slide2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Deploy the Full Stack with Docker Compose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9 OF 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Confirm data survives a restart — this is what the volume is for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955547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6812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docker compose restart api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sleep 5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curl -s http://127.0.0.1:8000/stats | python3 -m json.tool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The image bundles interpreter, dependencies and code as one artifact.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283</a:t>
            </a:r>
          </a:p>
        </p:txBody>
      </p:sp>
    </p:spTree>
  </p:cSld>
  <p:clrMapOvr>
    <a:masterClrMapping/>
  </p:clrMapOvr>
</p:sld>
</file>

<file path=ppt/slides/slide2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Deploy the Full Stack with Docker Compose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78308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7498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STEP 10 OF 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92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Tear down, keeping the data volume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88920"/>
            <a:ext cx="6903720" cy="740664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935224"/>
            <a:ext cx="6446520" cy="4663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docker compose down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F8FAFC"/>
                </a:solidFill>
                <a:latin typeface="Consolas"/>
              </a:rPr>
              <a:t>docker volume ls | grep cardguard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788920"/>
            <a:ext cx="3520440" cy="3291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THIS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31012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The image bundles interpreter, dependencies and code as one artifact.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284</a:t>
            </a:r>
          </a:p>
        </p:txBody>
      </p:sp>
    </p:spTree>
  </p:cSld>
  <p:clrMapOvr>
    <a:masterClrMapping/>
  </p:clrMapOvr>
</p:sld>
</file>

<file path=ppt/slides/slide2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20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Deploy the Full Stack with Docker Compose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Both services start, the UI waits for the API health check, a screening submitted in the browser is stored and visible via /stats, and the data survives a container restart.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285</a:t>
            </a:r>
          </a:p>
        </p:txBody>
      </p:sp>
    </p:spTree>
  </p:cSld>
  <p:clrMapOvr>
    <a:masterClrMapping/>
  </p:clrMapOvr>
</p:sld>
</file>

<file path=ppt/slides/slide2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Recap — Packaging and Deployment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You can now: Create a data application UI that consumes the API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You can now: Move settings out of code into the environment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You can now: Package the application into a reproducible image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You can now: Run and verify a multi-service application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286</a:t>
            </a:r>
          </a:p>
        </p:txBody>
      </p:sp>
    </p:spTree>
  </p:cSld>
  <p:clrMapOvr>
    <a:masterClrMapping/>
  </p:clrMapOvr>
</p:sld>
</file>

<file path=ppt/slides/slide2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WRAP-UP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Course Summary &amp; Next Steps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287</a:t>
            </a:r>
          </a:p>
        </p:txBody>
      </p:sp>
    </p:spTree>
  </p:cSld>
  <p:clrMapOvr>
    <a:masterClrMapping/>
  </p:clrMapOvr>
</p:sld>
</file>

<file path=ppt/slides/slide2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LEARNING OUTCOMES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What You Achieved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10634472" cy="683971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683971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1850745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1850745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9427464" cy="50109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Vibe Coding Foundations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uv Projects · AI Coding Assistants · Prompting Patterns · AI-Assisted Refactoring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2704795"/>
            <a:ext cx="10634472" cy="683971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2704795"/>
            <a:ext cx="91440" cy="683971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33272" y="2772460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33272" y="277246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64792" y="2832811"/>
            <a:ext cx="9427464" cy="50109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Object-Oriented Programming in Python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Classes · Encapsulation · Inheritance · Composition · Dunder Methods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626510"/>
            <a:ext cx="10634472" cy="683971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626510"/>
            <a:ext cx="91440" cy="683971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5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5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754526"/>
            <a:ext cx="9427464" cy="50109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Data Analytics with pandas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DataFrames · Cleaning · Transformation · GroupBy · Aggregation · Reporting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7240" y="4548225"/>
            <a:ext cx="10634472" cy="683971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77240" y="4548225"/>
            <a:ext cx="91440" cy="683971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33272" y="461589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33272" y="461589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64792" y="4676241"/>
            <a:ext cx="9427464" cy="50109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Data Modelling with Pydantic and FastAPI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Typed Models · Validation · Endpoints · Request/Response Schemas · Auto Docs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5469940"/>
            <a:ext cx="10634472" cy="683971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5469940"/>
            <a:ext cx="91440" cy="683971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537605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537605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5597956"/>
            <a:ext cx="9427464" cy="50109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Packaging and Deployment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uv Lockfiles · Configuration · Containers · Deploying a Service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288</a:t>
            </a:r>
          </a:p>
        </p:txBody>
      </p:sp>
    </p:spTree>
  </p:cSld>
  <p:clrMapOvr>
    <a:masterClrMapping/>
  </p:clrMapOvr>
</p:sld>
</file>

<file path=ppt/slides/slide2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NEXT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Where to Go Next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Rebuild CardGuard from scratch on your own machine, using your AI assistant for every step.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Add a new fraud rule and a matching pytest test, then redeploy the container.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Swap SQLite for PostgreSQL — the repository layer is the only module that should change.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Publish your image to a registry and deploy it to a cloud host.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Practise the four-part prompt pattern on your own work: goal, constraints, inputs, expected output.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289</a:t>
            </a:r>
          </a:p>
        </p:txBody>
      </p:sp>
    </p:spTree>
  </p:cSld>
  <p:clrMapOvr>
    <a:masterClrMapping/>
  </p:clrMapOvr>
</p:sld>
</file>

<file path=ppt/slides/slide2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TEST YOURSELF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Keep Practising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Re-run every lab from a clean folder — uv sync restores the exact environment from uv.lock.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Read the Learner Guide alongside your own code; the step numbering matches the labs exactly.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Practise the four-part prompt pattern: goal, constraints, inputs, expected output.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Tertiary Infotech practice exams: https://exams.tertiaryinfotech.com/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290</a:t>
            </a:r>
          </a:p>
        </p:txBody>
      </p:sp>
    </p:spTree>
  </p:cSld>
  <p:clrMapOvr>
    <a:masterClrMapping/>
  </p:clrMapOvr>
</p:sld>
</file>

<file path=ppt/slides/slide2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WRAP-UP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Assessment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Written Assessment (SAQ) — 50 minutes.  Case Study (CS) — 80 minutes.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Open book: slides, Learner Guide and approved materials only.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Remember to take the Assessment digital attendance (TRAQOM).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Submit your completed answers on the LMS at https://lms-tms.tertiaryinfotech.com/.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291</a:t>
            </a:r>
          </a:p>
        </p:txBody>
      </p:sp>
    </p:spTree>
  </p:cSld>
  <p:clrMapOvr>
    <a:masterClrMapping/>
  </p:clrMapOvr>
</p:sld>
</file>

<file path=ppt/slides/slide2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ON ASSESSMENT 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Assessment 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41424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41424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TRAQOM survey — scan the QR code on the LMS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18841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66313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66313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30497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30497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12617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Assessment digital attendance — scan the SSG QR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7914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55386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55386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19570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19570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1690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Sit WA (SAQ) then the Case Study (CS) — open book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6987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44459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44459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08643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08643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0763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Submit your answers on the LMS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6060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533532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33532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097716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97716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79836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Sign the Assessment Summary Record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292</a:t>
            </a:r>
          </a:p>
        </p:txBody>
      </p:sp>
    </p:spTree>
  </p:cSld>
  <p:clrMapOvr>
    <a:masterClrMapping/>
  </p:clrMapOvr>
</p:sld>
</file>

<file path=ppt/slides/slide2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TRAQOM · SSG DIGITAL ATTENDANCE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Digital Attendance (Mandatory)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It is mandatory to take the AM, PM and Assessment digital attendance for WSQ-funded courses.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The trainer/administrator displays the digital attendance QR code from the SSG portal.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Scan the QR code with your mobile phone camera and submit your attendance.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A minimum of 75% attendance is required to be eligible for assessment and funding.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293</a:t>
            </a:r>
          </a:p>
        </p:txBody>
      </p:sp>
    </p:spTree>
  </p:cSld>
  <p:clrMapOvr>
    <a:masterClrMapping/>
  </p:clrMapOvr>
</p:sld>
</file>

<file path=ppt/slides/slide2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01168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KEEP BUILDING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560320"/>
            <a:ext cx="1033272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800" b="1">
                <a:solidFill>
                  <a:srgbClr val="161B26"/>
                </a:solidFill>
                <a:latin typeface="Arial"/>
              </a:rPr>
              <a:t>Thank You!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" y="4480560"/>
            <a:ext cx="10058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5B6372"/>
                </a:solidFill>
                <a:latin typeface="Arial"/>
              </a:rPr>
              <a:t>You can now build, test and deploy a real Python application with AI assistance.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 and Deploy Python Apps with Vibe Coding  ·  TGS-2019504591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294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